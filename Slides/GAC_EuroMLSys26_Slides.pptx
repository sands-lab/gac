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" name="Google Shape;1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d977f0edf5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" name="Google Shape;34;g3d977f0edf5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g3d977f0edf5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d977f0edf5_0_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g3d977f0edf5_0_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g3d977f0edf5_0_4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">
  <p:cSld name="MAIN">
    <p:bg>
      <p:bgPr>
        <a:solidFill>
          <a:srgbClr val="FCFAF0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A7F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3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A85"/>
                </a:solidFill>
                <a:latin typeface="Calibri"/>
                <a:ea typeface="Calibri"/>
                <a:cs typeface="Calibri"/>
                <a:sym typeface="Calibri"/>
              </a:rPr>
              <a:t>GAC  ·  GPU-Aligned Compression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3"/>
          <p:cNvSpPr/>
          <p:nvPr/>
        </p:nvSpPr>
        <p:spPr>
          <a:xfrm>
            <a:off x="6858000" y="6565392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8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A85"/>
                </a:solidFill>
                <a:latin typeface="Calibri"/>
                <a:ea typeface="Calibri"/>
                <a:cs typeface="Calibri"/>
                <a:sym typeface="Calibri"/>
              </a:rPr>
              <a:t>EuroMLSys '26  ·  Edinburgh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11750040" y="6565392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A8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A8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A8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A8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A8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A8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A8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A8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A8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11750040" y="6565392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A8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A8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A8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A8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A8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A8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A8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A8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A8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AF0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A7FB8"/>
          </a:solidFill>
          <a:ln cap="flat" cmpd="sng" w="12700">
            <a:solidFill>
              <a:srgbClr val="2A7F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4"/>
          <p:cNvSpPr/>
          <p:nvPr/>
        </p:nvSpPr>
        <p:spPr>
          <a:xfrm>
            <a:off x="822845" y="1431003"/>
            <a:ext cx="106986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E3B"/>
              </a:buClr>
              <a:buSzPts val="6600"/>
              <a:buFont typeface="Calibri"/>
              <a:buNone/>
            </a:pPr>
            <a:r>
              <a:rPr b="1" lang="en-US" sz="6000">
                <a:solidFill>
                  <a:srgbClr val="0A2E3B"/>
                </a:solidFill>
                <a:latin typeface="Calibri"/>
                <a:ea typeface="Calibri"/>
                <a:cs typeface="Calibri"/>
                <a:sym typeface="Calibri"/>
              </a:rPr>
              <a:t>Why</a:t>
            </a:r>
            <a:r>
              <a:rPr b="1" i="0" lang="en-US" sz="6000" u="none" cap="none" strike="noStrike">
                <a:solidFill>
                  <a:srgbClr val="0A2E3B"/>
                </a:solidFill>
                <a:latin typeface="Calibri"/>
                <a:ea typeface="Calibri"/>
                <a:cs typeface="Calibri"/>
                <a:sym typeface="Calibri"/>
              </a:rPr>
              <a:t> Smaller Is Slower?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731520" y="2697480"/>
            <a:ext cx="10698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C66"/>
              </a:buClr>
              <a:buSzPts val="2600"/>
              <a:buFont typeface="Calibri"/>
              <a:buNone/>
            </a:pPr>
            <a:r>
              <a:rPr i="1" lang="en-US" sz="3600" u="none" cap="none" strike="noStrike">
                <a:solidFill>
                  <a:srgbClr val="4A5C66"/>
                </a:solidFill>
                <a:latin typeface="Calibri"/>
                <a:ea typeface="Calibri"/>
                <a:cs typeface="Calibri"/>
                <a:sym typeface="Calibri"/>
              </a:rPr>
              <a:t>Dimensional Misalignment in Compressed LLMs</a:t>
            </a:r>
            <a:endParaRPr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777240" y="3429000"/>
            <a:ext cx="822960" cy="45720"/>
          </a:xfrm>
          <a:prstGeom prst="rect">
            <a:avLst/>
          </a:prstGeom>
          <a:solidFill>
            <a:srgbClr val="CB6218"/>
          </a:solidFill>
          <a:ln cap="flat" cmpd="sng" w="12700">
            <a:solidFill>
              <a:srgbClr val="CB62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4"/>
          <p:cNvSpPr/>
          <p:nvPr/>
        </p:nvSpPr>
        <p:spPr>
          <a:xfrm>
            <a:off x="777240" y="3657600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E3B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A2E3B"/>
                </a:solidFill>
                <a:latin typeface="Calibri"/>
                <a:ea typeface="Calibri"/>
                <a:cs typeface="Calibri"/>
                <a:sym typeface="Calibri"/>
              </a:rPr>
              <a:t>Jihao Xin</a:t>
            </a:r>
            <a:r>
              <a:rPr b="0" i="0" lang="en-US" sz="1800" u="none" cap="none" strike="noStrike">
                <a:solidFill>
                  <a:srgbClr val="4A5C66"/>
                </a:solidFill>
                <a:latin typeface="Calibri"/>
                <a:ea typeface="Calibri"/>
                <a:cs typeface="Calibri"/>
                <a:sym typeface="Calibri"/>
              </a:rPr>
              <a:t>    Tian Lyu    Qilong Pan    Kesen Wang    Marco Canini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" name="Google Shape;27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86822" y="4328160"/>
            <a:ext cx="2529840" cy="2529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4987" y="4206235"/>
            <a:ext cx="2529840" cy="252984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4"/>
          <p:cNvGrpSpPr/>
          <p:nvPr/>
        </p:nvGrpSpPr>
        <p:grpSpPr>
          <a:xfrm>
            <a:off x="584975" y="114176"/>
            <a:ext cx="1999800" cy="1257511"/>
            <a:chOff x="236225" y="264314"/>
            <a:chExt cx="1999800" cy="1257511"/>
          </a:xfrm>
        </p:grpSpPr>
        <p:pic>
          <p:nvPicPr>
            <p:cNvPr id="30" name="Google Shape;30;p4"/>
            <p:cNvPicPr preferRelativeResize="0"/>
            <p:nvPr/>
          </p:nvPicPr>
          <p:blipFill rotWithShape="1">
            <a:blip r:embed="rId5">
              <a:alphaModFix/>
            </a:blip>
            <a:srcRect b="41350" l="0" r="0" t="16873"/>
            <a:stretch/>
          </p:blipFill>
          <p:spPr>
            <a:xfrm>
              <a:off x="236225" y="264314"/>
              <a:ext cx="1905000" cy="7958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" name="Google Shape;31;p4"/>
            <p:cNvSpPr txBox="1"/>
            <p:nvPr/>
          </p:nvSpPr>
          <p:spPr>
            <a:xfrm>
              <a:off x="331025" y="1060125"/>
              <a:ext cx="19050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EuroMLSys’ 26</a:t>
              </a:r>
              <a:endParaRPr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/>
          <p:nvPr/>
        </p:nvSpPr>
        <p:spPr>
          <a:xfrm>
            <a:off x="502920" y="274320"/>
            <a:ext cx="11247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E3B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Background</a:t>
            </a:r>
            <a:r>
              <a:rPr b="1" lang="en-US" sz="2600">
                <a:solidFill>
                  <a:srgbClr val="0A2E3B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1" lang="en-US" sz="2600">
                <a:solidFill>
                  <a:srgbClr val="0A2E3B"/>
                </a:solidFill>
                <a:latin typeface="Calibri"/>
                <a:ea typeface="Calibri"/>
                <a:cs typeface="Calibri"/>
                <a:sym typeface="Calibri"/>
              </a:rPr>
              <a:t>Post-training c</a:t>
            </a:r>
            <a:r>
              <a:rPr b="1" i="0" lang="en-US" sz="2600" u="none" cap="none" strike="noStrike">
                <a:solidFill>
                  <a:srgbClr val="0A2E3B"/>
                </a:solidFill>
                <a:latin typeface="Calibri"/>
                <a:ea typeface="Calibri"/>
                <a:cs typeface="Calibri"/>
                <a:sym typeface="Calibri"/>
              </a:rPr>
              <a:t>ompression in LLMs</a:t>
            </a:r>
            <a:endParaRPr b="1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502920" y="950976"/>
            <a:ext cx="411600" cy="36600"/>
          </a:xfrm>
          <a:prstGeom prst="rect">
            <a:avLst/>
          </a:prstGeom>
          <a:solidFill>
            <a:srgbClr val="2A7FB8"/>
          </a:solidFill>
          <a:ln cap="flat" cmpd="sng" w="12700">
            <a:solidFill>
              <a:srgbClr val="2A7F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5"/>
          <p:cNvSpPr txBox="1"/>
          <p:nvPr>
            <p:ph idx="4294967295" type="sldNum"/>
          </p:nvPr>
        </p:nvSpPr>
        <p:spPr>
          <a:xfrm>
            <a:off x="11750040" y="656539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A8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B7A8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466353" y="3706913"/>
            <a:ext cx="11064240" cy="982982"/>
            <a:chOff x="563878" y="5054950"/>
            <a:chExt cx="11064240" cy="982982"/>
          </a:xfrm>
        </p:grpSpPr>
        <p:sp>
          <p:nvSpPr>
            <p:cNvPr id="41" name="Google Shape;41;p5"/>
            <p:cNvSpPr/>
            <p:nvPr/>
          </p:nvSpPr>
          <p:spPr>
            <a:xfrm>
              <a:off x="563878" y="5054950"/>
              <a:ext cx="7315200" cy="32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A2E3B"/>
                </a:buClr>
                <a:buSzPts val="1500"/>
                <a:buFont typeface="Calibri"/>
                <a:buNone/>
              </a:pPr>
              <a:r>
                <a:t/>
              </a:r>
              <a:endPara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Google Shape;42;p5"/>
            <p:cNvSpPr/>
            <p:nvPr/>
          </p:nvSpPr>
          <p:spPr>
            <a:xfrm>
              <a:off x="563878" y="5512150"/>
              <a:ext cx="457200" cy="457200"/>
            </a:xfrm>
            <a:prstGeom prst="ellipse">
              <a:avLst/>
            </a:prstGeom>
            <a:solidFill>
              <a:srgbClr val="2A7FB8"/>
            </a:solidFill>
            <a:ln cap="flat" cmpd="sng" w="12700">
              <a:solidFill>
                <a:srgbClr val="2A7FB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5"/>
            <p:cNvSpPr/>
            <p:nvPr/>
          </p:nvSpPr>
          <p:spPr>
            <a:xfrm>
              <a:off x="563878" y="5512150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DF5"/>
                </a:buClr>
                <a:buSzPts val="2200"/>
                <a:buFont typeface="Calibri"/>
                <a:buNone/>
              </a:pPr>
              <a:r>
                <a:rPr b="1" lang="en-US" sz="2200">
                  <a:solidFill>
                    <a:srgbClr val="FFFDF5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" name="Google Shape;44;p5"/>
            <p:cNvSpPr/>
            <p:nvPr/>
          </p:nvSpPr>
          <p:spPr>
            <a:xfrm>
              <a:off x="1112517" y="5512150"/>
              <a:ext cx="32004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A2E3B"/>
                </a:buClr>
                <a:buSzPts val="1400"/>
                <a:buFont typeface="Calibri"/>
                <a:buNone/>
              </a:pPr>
              <a:r>
                <a:rPr b="1" i="0" lang="en-US" sz="2200" u="none" cap="none" strike="noStrike">
                  <a:solidFill>
                    <a:srgbClr val="0A2E3B"/>
                  </a:solidFill>
                  <a:latin typeface="Calibri"/>
                  <a:ea typeface="Calibri"/>
                  <a:cs typeface="Calibri"/>
                  <a:sym typeface="Calibri"/>
                </a:rPr>
                <a:t>Low-rank </a:t>
              </a:r>
              <a:r>
                <a:rPr b="1" lang="en-US" sz="2200">
                  <a:solidFill>
                    <a:srgbClr val="0A2E3B"/>
                  </a:solidFill>
                  <a:latin typeface="Calibri"/>
                  <a:ea typeface="Calibri"/>
                  <a:cs typeface="Calibri"/>
                  <a:sym typeface="Calibri"/>
                </a:rPr>
                <a:t>Decomposition</a:t>
              </a:r>
              <a:endPara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45;p5"/>
            <p:cNvSpPr/>
            <p:nvPr/>
          </p:nvSpPr>
          <p:spPr>
            <a:xfrm>
              <a:off x="4221478" y="5512150"/>
              <a:ext cx="457200" cy="457200"/>
            </a:xfrm>
            <a:prstGeom prst="ellipse">
              <a:avLst/>
            </a:prstGeom>
            <a:solidFill>
              <a:srgbClr val="CB6218"/>
            </a:solidFill>
            <a:ln cap="flat" cmpd="sng" w="12700">
              <a:solidFill>
                <a:srgbClr val="CB621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5"/>
            <p:cNvSpPr/>
            <p:nvPr/>
          </p:nvSpPr>
          <p:spPr>
            <a:xfrm>
              <a:off x="4221478" y="5512150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DF5"/>
                </a:buClr>
                <a:buSzPts val="2200"/>
                <a:buFont typeface="Calibri"/>
                <a:buNone/>
              </a:pPr>
              <a:r>
                <a:rPr b="1" lang="en-US" sz="2200">
                  <a:solidFill>
                    <a:srgbClr val="FFFDF5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" name="Google Shape;47;p5"/>
            <p:cNvSpPr/>
            <p:nvPr/>
          </p:nvSpPr>
          <p:spPr>
            <a:xfrm>
              <a:off x="4770118" y="5512150"/>
              <a:ext cx="32004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A2E3B"/>
                </a:buClr>
                <a:buSzPts val="1400"/>
                <a:buFont typeface="Calibri"/>
                <a:buNone/>
              </a:pPr>
              <a:r>
                <a:rPr b="1" i="0" lang="en-US" sz="2200" u="none" cap="none" strike="noStrike">
                  <a:solidFill>
                    <a:srgbClr val="0A2E3B"/>
                  </a:solidFill>
                  <a:latin typeface="Calibri"/>
                  <a:ea typeface="Calibri"/>
                  <a:cs typeface="Calibri"/>
                  <a:sym typeface="Calibri"/>
                </a:rPr>
                <a:t>Structured </a:t>
              </a:r>
              <a:r>
                <a:rPr b="1" lang="en-US" sz="2200">
                  <a:solidFill>
                    <a:srgbClr val="0A2E3B"/>
                  </a:solidFill>
                  <a:latin typeface="Calibri"/>
                  <a:ea typeface="Calibri"/>
                  <a:cs typeface="Calibri"/>
                  <a:sym typeface="Calibri"/>
                </a:rPr>
                <a:t>P</a:t>
              </a:r>
              <a:r>
                <a:rPr b="1" i="0" lang="en-US" sz="2200" u="none" cap="none" strike="noStrike">
                  <a:solidFill>
                    <a:srgbClr val="0A2E3B"/>
                  </a:solidFill>
                  <a:latin typeface="Calibri"/>
                  <a:ea typeface="Calibri"/>
                  <a:cs typeface="Calibri"/>
                  <a:sym typeface="Calibri"/>
                </a:rPr>
                <a:t>runing</a:t>
              </a:r>
              <a:endPara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" name="Google Shape;48;p5"/>
            <p:cNvSpPr/>
            <p:nvPr/>
          </p:nvSpPr>
          <p:spPr>
            <a:xfrm>
              <a:off x="4770118" y="5809333"/>
              <a:ext cx="32004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6B7A85"/>
                </a:buClr>
                <a:buSzPts val="1200"/>
                <a:buFont typeface="Calibri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" name="Google Shape;49;p5"/>
            <p:cNvSpPr/>
            <p:nvPr/>
          </p:nvSpPr>
          <p:spPr>
            <a:xfrm>
              <a:off x="7879065" y="5512150"/>
              <a:ext cx="457200" cy="457200"/>
            </a:xfrm>
            <a:prstGeom prst="ellipse">
              <a:avLst/>
            </a:prstGeom>
            <a:solidFill>
              <a:srgbClr val="1F9498"/>
            </a:solidFill>
            <a:ln cap="flat" cmpd="sng" w="12700">
              <a:solidFill>
                <a:srgbClr val="1F949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p5"/>
            <p:cNvSpPr/>
            <p:nvPr/>
          </p:nvSpPr>
          <p:spPr>
            <a:xfrm>
              <a:off x="7879078" y="5512150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DF5"/>
                </a:buClr>
                <a:buSzPts val="2200"/>
                <a:buFont typeface="Calibri"/>
                <a:buNone/>
              </a:pPr>
              <a:r>
                <a:rPr b="1" lang="en-US" sz="2200">
                  <a:solidFill>
                    <a:srgbClr val="FFFDF5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" name="Google Shape;51;p5"/>
            <p:cNvSpPr/>
            <p:nvPr/>
          </p:nvSpPr>
          <p:spPr>
            <a:xfrm>
              <a:off x="8427718" y="5512150"/>
              <a:ext cx="32004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A2E3B"/>
                </a:buClr>
                <a:buSzPts val="1400"/>
                <a:buFont typeface="Calibri"/>
                <a:buNone/>
              </a:pPr>
              <a:r>
                <a:rPr b="1" lang="en-US" sz="2200">
                  <a:solidFill>
                    <a:srgbClr val="0A2E3B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r>
                <a:rPr b="1" i="0" lang="en-US" sz="2200" u="none" cap="none" strike="noStrike">
                  <a:solidFill>
                    <a:srgbClr val="0A2E3B"/>
                  </a:solidFill>
                  <a:latin typeface="Calibri"/>
                  <a:ea typeface="Calibri"/>
                  <a:cs typeface="Calibri"/>
                  <a:sym typeface="Calibri"/>
                </a:rPr>
                <a:t>oken </a:t>
              </a:r>
              <a:r>
                <a:rPr b="1" lang="en-US" sz="2200">
                  <a:solidFill>
                    <a:srgbClr val="0A2E3B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r>
                <a:rPr b="1" i="0" lang="en-US" sz="2200" u="none" cap="none" strike="noStrike">
                  <a:solidFill>
                    <a:srgbClr val="0A2E3B"/>
                  </a:solidFill>
                  <a:latin typeface="Calibri"/>
                  <a:ea typeface="Calibri"/>
                  <a:cs typeface="Calibri"/>
                  <a:sym typeface="Calibri"/>
                </a:rPr>
                <a:t>viction</a:t>
              </a:r>
              <a:endPara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52;p5"/>
            <p:cNvSpPr/>
            <p:nvPr/>
          </p:nvSpPr>
          <p:spPr>
            <a:xfrm>
              <a:off x="8427718" y="5809320"/>
              <a:ext cx="32004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6B7A85"/>
                </a:buClr>
                <a:buSzPts val="1200"/>
                <a:buFont typeface="Calibri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3" name="Google Shape;53;p5"/>
          <p:cNvSpPr txBox="1"/>
          <p:nvPr/>
        </p:nvSpPr>
        <p:spPr>
          <a:xfrm>
            <a:off x="502925" y="1232375"/>
            <a:ext cx="109911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Large pre-trained models such as GPTs </a:t>
            </a:r>
            <a:r>
              <a:rPr lang="en-US" sz="2400"/>
              <a:t>incur</a:t>
            </a:r>
            <a:r>
              <a:rPr lang="en-US" sz="2400"/>
              <a:t> substantial computational and memory costs.</a:t>
            </a:r>
            <a:endParaRPr sz="2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Post-training </a:t>
            </a:r>
            <a:r>
              <a:rPr lang="en-US" sz="2400">
                <a:solidFill>
                  <a:schemeClr val="dk1"/>
                </a:solidFill>
              </a:rPr>
              <a:t>compression are proposed to reduce memory footprint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Popular approaches includes:</a:t>
            </a:r>
            <a:endParaRPr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"/>
          <p:cNvSpPr/>
          <p:nvPr/>
        </p:nvSpPr>
        <p:spPr>
          <a:xfrm>
            <a:off x="472495" y="230220"/>
            <a:ext cx="11247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E3B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Problem</a:t>
            </a:r>
            <a:r>
              <a:rPr b="1" lang="en-US" sz="2600">
                <a:solidFill>
                  <a:srgbClr val="0A2E3B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1" lang="en-US" sz="2600">
                <a:solidFill>
                  <a:srgbClr val="0A2E3B"/>
                </a:solidFill>
                <a:latin typeface="Calibri"/>
                <a:ea typeface="Calibri"/>
                <a:cs typeface="Calibri"/>
                <a:sym typeface="Calibri"/>
              </a:rPr>
              <a:t>Post-training c</a:t>
            </a:r>
            <a:r>
              <a:rPr b="1" i="0" lang="en-US" sz="2600" u="none" cap="none" strike="noStrike">
                <a:solidFill>
                  <a:srgbClr val="0A2E3B"/>
                </a:solidFill>
                <a:latin typeface="Calibri"/>
                <a:ea typeface="Calibri"/>
                <a:cs typeface="Calibri"/>
                <a:sym typeface="Calibri"/>
              </a:rPr>
              <a:t>ompression </a:t>
            </a:r>
            <a:r>
              <a:rPr b="1" lang="en-US" sz="2600">
                <a:solidFill>
                  <a:srgbClr val="0A2E3B"/>
                </a:solidFill>
                <a:latin typeface="Calibri"/>
                <a:ea typeface="Calibri"/>
                <a:cs typeface="Calibri"/>
                <a:sym typeface="Calibri"/>
              </a:rPr>
              <a:t>produces</a:t>
            </a:r>
            <a:r>
              <a:rPr b="1" i="0" lang="en-US" sz="2600" u="none" cap="none" strike="noStrike">
                <a:solidFill>
                  <a:srgbClr val="0A2E3B"/>
                </a:solidFill>
                <a:latin typeface="Calibri"/>
                <a:ea typeface="Calibri"/>
                <a:cs typeface="Calibri"/>
                <a:sym typeface="Calibri"/>
              </a:rPr>
              <a:t> irregular LLM tensor dimensions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6"/>
          <p:cNvSpPr/>
          <p:nvPr/>
        </p:nvSpPr>
        <p:spPr>
          <a:xfrm>
            <a:off x="502920" y="950976"/>
            <a:ext cx="411600" cy="36600"/>
          </a:xfrm>
          <a:prstGeom prst="rect">
            <a:avLst/>
          </a:prstGeom>
          <a:solidFill>
            <a:srgbClr val="2A7FB8"/>
          </a:solidFill>
          <a:ln cap="flat" cmpd="sng" w="12700">
            <a:solidFill>
              <a:srgbClr val="2A7F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6"/>
          <p:cNvSpPr/>
          <p:nvPr/>
        </p:nvSpPr>
        <p:spPr>
          <a:xfrm>
            <a:off x="3267525" y="2998413"/>
            <a:ext cx="457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C66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4A5C66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6"/>
          <p:cNvSpPr/>
          <p:nvPr/>
        </p:nvSpPr>
        <p:spPr>
          <a:xfrm>
            <a:off x="1132240" y="2472598"/>
            <a:ext cx="1828800" cy="2011800"/>
          </a:xfrm>
          <a:prstGeom prst="rect">
            <a:avLst/>
          </a:prstGeom>
          <a:solidFill>
            <a:srgbClr val="FCEADB"/>
          </a:solidFill>
          <a:ln cap="flat" cmpd="sng" w="19050">
            <a:solidFill>
              <a:srgbClr val="CB62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6"/>
          <p:cNvSpPr/>
          <p:nvPr/>
        </p:nvSpPr>
        <p:spPr>
          <a:xfrm>
            <a:off x="1132240" y="2472598"/>
            <a:ext cx="1828800" cy="201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6218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CB6218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6"/>
          <p:cNvSpPr txBox="1"/>
          <p:nvPr>
            <p:ph idx="4294967295" type="sldNum"/>
          </p:nvPr>
        </p:nvSpPr>
        <p:spPr>
          <a:xfrm>
            <a:off x="11750040" y="656539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A8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B7A8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6"/>
          <p:cNvSpPr txBox="1"/>
          <p:nvPr/>
        </p:nvSpPr>
        <p:spPr>
          <a:xfrm>
            <a:off x="502925" y="3156463"/>
            <a:ext cx="537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A2E3B"/>
                </a:solidFill>
                <a:latin typeface="Calibri"/>
                <a:ea typeface="Calibri"/>
                <a:cs typeface="Calibri"/>
                <a:sym typeface="Calibri"/>
              </a:rPr>
              <a:t>128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6"/>
          <p:cNvSpPr txBox="1"/>
          <p:nvPr/>
        </p:nvSpPr>
        <p:spPr>
          <a:xfrm>
            <a:off x="1818050" y="4566176"/>
            <a:ext cx="537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A2E3B"/>
                </a:solidFill>
                <a:latin typeface="Calibri"/>
                <a:ea typeface="Calibri"/>
                <a:cs typeface="Calibri"/>
                <a:sym typeface="Calibri"/>
              </a:rPr>
              <a:t>128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4760540" y="2452598"/>
            <a:ext cx="1828800" cy="20118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CB62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/>
          <p:nvPr/>
        </p:nvSpPr>
        <p:spPr>
          <a:xfrm>
            <a:off x="4760548" y="2452600"/>
            <a:ext cx="1335300" cy="2011800"/>
          </a:xfrm>
          <a:prstGeom prst="rect">
            <a:avLst/>
          </a:prstGeom>
          <a:solidFill>
            <a:srgbClr val="FCEAD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6218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CB6218"/>
                </a:solidFill>
                <a:latin typeface="Calibri"/>
                <a:ea typeface="Calibri"/>
                <a:cs typeface="Calibri"/>
                <a:sym typeface="Calibri"/>
              </a:rPr>
              <a:t>W’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6"/>
          <p:cNvSpPr txBox="1"/>
          <p:nvPr/>
        </p:nvSpPr>
        <p:spPr>
          <a:xfrm>
            <a:off x="4131225" y="3136463"/>
            <a:ext cx="537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A2E3B"/>
                </a:solidFill>
                <a:latin typeface="Calibri"/>
                <a:ea typeface="Calibri"/>
                <a:cs typeface="Calibri"/>
                <a:sym typeface="Calibri"/>
              </a:rPr>
              <a:t>128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6"/>
          <p:cNvSpPr txBox="1"/>
          <p:nvPr/>
        </p:nvSpPr>
        <p:spPr>
          <a:xfrm>
            <a:off x="5103450" y="4546175"/>
            <a:ext cx="649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A2E3B"/>
                </a:solidFill>
                <a:latin typeface="Calibri"/>
                <a:ea typeface="Calibri"/>
                <a:cs typeface="Calibri"/>
                <a:sym typeface="Calibri"/>
              </a:rPr>
              <a:t>107</a:t>
            </a:r>
            <a:endParaRPr b="1" sz="2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6"/>
          <p:cNvSpPr/>
          <p:nvPr/>
        </p:nvSpPr>
        <p:spPr>
          <a:xfrm>
            <a:off x="7513990" y="2268270"/>
            <a:ext cx="3931800" cy="3246000"/>
          </a:xfrm>
          <a:prstGeom prst="roundRect">
            <a:avLst>
              <a:gd fmla="val 3380" name="adj"/>
            </a:avLst>
          </a:prstGeom>
          <a:solidFill>
            <a:srgbClr val="FCEADB"/>
          </a:solidFill>
          <a:ln cap="flat" cmpd="sng" w="19050">
            <a:solidFill>
              <a:srgbClr val="D23B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6"/>
          <p:cNvSpPr/>
          <p:nvPr/>
        </p:nvSpPr>
        <p:spPr>
          <a:xfrm>
            <a:off x="7833795" y="2405505"/>
            <a:ext cx="3612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23B2E"/>
              </a:buClr>
              <a:buSzPts val="1300"/>
              <a:buFont typeface="Calibri"/>
              <a:buNone/>
            </a:pPr>
            <a:r>
              <a:rPr b="1" lang="en-US" sz="2000">
                <a:solidFill>
                  <a:srgbClr val="D23B2E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1" lang="en-US" sz="2000">
                <a:solidFill>
                  <a:srgbClr val="D23B2E"/>
                </a:solidFill>
                <a:latin typeface="Calibri"/>
                <a:ea typeface="Calibri"/>
                <a:cs typeface="Calibri"/>
                <a:sym typeface="Calibri"/>
              </a:rPr>
              <a:t>maller might be slower!!!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6"/>
          <p:cNvSpPr/>
          <p:nvPr/>
        </p:nvSpPr>
        <p:spPr>
          <a:xfrm>
            <a:off x="7742590" y="2908350"/>
            <a:ext cx="457200" cy="457200"/>
          </a:xfrm>
          <a:prstGeom prst="ellipse">
            <a:avLst/>
          </a:prstGeom>
          <a:solidFill>
            <a:srgbClr val="7A9B1B"/>
          </a:solidFill>
          <a:ln cap="flat" cmpd="sng" w="12700">
            <a:solidFill>
              <a:srgbClr val="7A9B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6"/>
          <p:cNvSpPr/>
          <p:nvPr/>
        </p:nvSpPr>
        <p:spPr>
          <a:xfrm>
            <a:off x="7742590" y="290835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DF5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DF5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8291230" y="2908350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C66"/>
              </a:buClr>
              <a:buSzPts val="1300"/>
              <a:buFont typeface="Calibri"/>
              <a:buNone/>
            </a:pPr>
            <a:r>
              <a:rPr b="0" i="0" lang="en-US" sz="2000" u="none" cap="none" strike="noStrike">
                <a:solidFill>
                  <a:srgbClr val="4A5C66"/>
                </a:solidFill>
                <a:latin typeface="Calibri"/>
                <a:ea typeface="Calibri"/>
                <a:cs typeface="Calibri"/>
                <a:sym typeface="Calibri"/>
              </a:rPr>
              <a:t>parameters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8291230" y="3182670"/>
            <a:ext cx="2926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B1B"/>
              </a:buClr>
              <a:buSzPts val="4800"/>
              <a:buFont typeface="Calibri"/>
              <a:buNone/>
            </a:pPr>
            <a:r>
              <a:rPr b="1" i="0" lang="en-US" sz="4800" u="none" cap="none" strike="noStrike">
                <a:solidFill>
                  <a:srgbClr val="7A9B1B"/>
                </a:solidFill>
                <a:latin typeface="Calibri"/>
                <a:ea typeface="Calibri"/>
                <a:cs typeface="Calibri"/>
                <a:sym typeface="Calibri"/>
              </a:rPr>
              <a:t>−15%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7742590" y="4005630"/>
            <a:ext cx="457200" cy="457200"/>
          </a:xfrm>
          <a:prstGeom prst="ellipse">
            <a:avLst/>
          </a:prstGeom>
          <a:solidFill>
            <a:srgbClr val="D23B2E"/>
          </a:solidFill>
          <a:ln cap="flat" cmpd="sng" w="12700">
            <a:solidFill>
              <a:srgbClr val="D23B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6"/>
          <p:cNvSpPr/>
          <p:nvPr/>
        </p:nvSpPr>
        <p:spPr>
          <a:xfrm>
            <a:off x="7742590" y="400563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DF5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DF5"/>
                </a:solidFill>
                <a:latin typeface="Calibri"/>
                <a:ea typeface="Calibri"/>
                <a:cs typeface="Calibri"/>
                <a:sym typeface="Calibri"/>
              </a:rPr>
              <a:t>▲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8291230" y="4005630"/>
            <a:ext cx="2286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C66"/>
              </a:buClr>
              <a:buSzPts val="1300"/>
              <a:buFont typeface="Calibri"/>
              <a:buNone/>
            </a:pPr>
            <a:r>
              <a:rPr b="0" i="0" lang="en-US" sz="2000" u="none" cap="none" strike="noStrike">
                <a:solidFill>
                  <a:srgbClr val="4A5C66"/>
                </a:solidFill>
                <a:latin typeface="Calibri"/>
                <a:ea typeface="Calibri"/>
                <a:cs typeface="Calibri"/>
                <a:sym typeface="Calibri"/>
              </a:rPr>
              <a:t>prefill latency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8291230" y="4279950"/>
            <a:ext cx="2926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23B2E"/>
              </a:buClr>
              <a:buSzPts val="4800"/>
              <a:buFont typeface="Calibri"/>
              <a:buNone/>
            </a:pPr>
            <a:r>
              <a:rPr b="1" i="0" lang="en-US" sz="4800" u="none" cap="none" strike="noStrike">
                <a:solidFill>
                  <a:srgbClr val="D23B2E"/>
                </a:solidFill>
                <a:latin typeface="Calibri"/>
                <a:ea typeface="Calibri"/>
                <a:cs typeface="Calibri"/>
                <a:sym typeface="Calibri"/>
              </a:rPr>
              <a:t>+1%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7696870" y="5011470"/>
            <a:ext cx="361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85"/>
              </a:buClr>
              <a:buSzPts val="1200"/>
              <a:buFont typeface="Calibri"/>
              <a:buNone/>
            </a:pPr>
            <a:r>
              <a:rPr b="0" i="1" lang="en-US" sz="1600" u="none" cap="none" strike="noStrike">
                <a:solidFill>
                  <a:srgbClr val="6B7A85"/>
                </a:solidFill>
                <a:latin typeface="Calibri"/>
                <a:ea typeface="Calibri"/>
                <a:cs typeface="Calibri"/>
                <a:sym typeface="Calibri"/>
              </a:rPr>
              <a:t>ρ = 15%,  A100,  S = 1024</a:t>
            </a:r>
            <a:br>
              <a:rPr b="0" i="1" lang="en-US" sz="1600" u="none" cap="none" strike="noStrike">
                <a:solidFill>
                  <a:srgbClr val="6B7A8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600" u="none" cap="none" strike="noStrike">
                <a:solidFill>
                  <a:srgbClr val="6B7A85"/>
                </a:solidFill>
                <a:latin typeface="Calibri"/>
                <a:ea typeface="Calibri"/>
                <a:cs typeface="Calibri"/>
                <a:sym typeface="Calibri"/>
              </a:rPr>
              <a:t>ASVD[1] on Llama-3-8B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 txBox="1"/>
          <p:nvPr/>
        </p:nvSpPr>
        <p:spPr>
          <a:xfrm>
            <a:off x="502925" y="5109650"/>
            <a:ext cx="64692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Dimensional Misalignment</a:t>
            </a:r>
            <a:endParaRPr b="1" sz="2600">
              <a:solidFill>
                <a:srgbClr val="98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0A2E3B"/>
                </a:solidFill>
                <a:latin typeface="Calibri"/>
                <a:ea typeface="Calibri"/>
                <a:cs typeface="Calibri"/>
                <a:sym typeface="Calibri"/>
              </a:rPr>
              <a:t>Degrades inference performance on GPUs</a:t>
            </a:r>
            <a:endParaRPr b="1" sz="2600">
              <a:solidFill>
                <a:srgbClr val="0A2E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 txBox="1"/>
          <p:nvPr/>
        </p:nvSpPr>
        <p:spPr>
          <a:xfrm>
            <a:off x="428625" y="1169300"/>
            <a:ext cx="10272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LLM dimensions are carefully designed to fit optimized GPU kernels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84" name="Google Shape;84;p6"/>
          <p:cNvSpPr txBox="1"/>
          <p:nvPr/>
        </p:nvSpPr>
        <p:spPr>
          <a:xfrm>
            <a:off x="734700" y="6135125"/>
            <a:ext cx="9387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222222"/>
                </a:solidFill>
              </a:rPr>
              <a:t>[1] </a:t>
            </a:r>
            <a:r>
              <a:rPr lang="en-US" sz="1000">
                <a:solidFill>
                  <a:srgbClr val="222222"/>
                </a:solidFill>
              </a:rPr>
              <a:t>Yuan, Zhihang, et al. "Asvd: Activation-aware singular value decomposition for compressing large language models." </a:t>
            </a:r>
            <a:r>
              <a:rPr i="1" lang="en-US" sz="1000">
                <a:solidFill>
                  <a:srgbClr val="222222"/>
                </a:solidFill>
              </a:rPr>
              <a:t>arXiv preprint arXiv:2312.05821</a:t>
            </a:r>
            <a:r>
              <a:rPr lang="en-US" sz="1000">
                <a:solidFill>
                  <a:srgbClr val="222222"/>
                </a:solidFill>
              </a:rPr>
              <a:t> (2023).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7"/>
          <p:cNvSpPr/>
          <p:nvPr/>
        </p:nvSpPr>
        <p:spPr>
          <a:xfrm>
            <a:off x="0" y="210750"/>
            <a:ext cx="12558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E3B"/>
              </a:buClr>
              <a:buSzPts val="2600"/>
              <a:buFont typeface="Calibri"/>
              <a:buNone/>
            </a:pPr>
            <a:r>
              <a:rPr b="1" lang="en-US" sz="2500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Investigation</a:t>
            </a:r>
            <a:r>
              <a:rPr b="1" lang="en-US" sz="2500">
                <a:solidFill>
                  <a:srgbClr val="0A2E3B"/>
                </a:solidFill>
                <a:latin typeface="Calibri"/>
                <a:ea typeface="Calibri"/>
                <a:cs typeface="Calibri"/>
                <a:sym typeface="Calibri"/>
              </a:rPr>
              <a:t>: Dimensional </a:t>
            </a:r>
            <a:r>
              <a:rPr b="1" i="0" lang="en-US" sz="2500" u="none" cap="none" strike="noStrike">
                <a:solidFill>
                  <a:srgbClr val="0A2E3B"/>
                </a:solidFill>
                <a:latin typeface="Calibri"/>
                <a:ea typeface="Calibri"/>
                <a:cs typeface="Calibri"/>
                <a:sym typeface="Calibri"/>
              </a:rPr>
              <a:t>Misalignment </a:t>
            </a:r>
            <a:r>
              <a:rPr b="1" lang="en-US" sz="2500">
                <a:solidFill>
                  <a:srgbClr val="0A2E3B"/>
                </a:solidFill>
                <a:latin typeface="Calibri"/>
                <a:ea typeface="Calibri"/>
                <a:cs typeface="Calibri"/>
                <a:sym typeface="Calibri"/>
              </a:rPr>
              <a:t>consistently occurs in post-training compression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7"/>
          <p:cNvSpPr/>
          <p:nvPr/>
        </p:nvSpPr>
        <p:spPr>
          <a:xfrm>
            <a:off x="502920" y="950976"/>
            <a:ext cx="411480" cy="36576"/>
          </a:xfrm>
          <a:prstGeom prst="rect">
            <a:avLst/>
          </a:prstGeom>
          <a:solidFill>
            <a:srgbClr val="2A7FB8"/>
          </a:solidFill>
          <a:ln cap="flat" cmpd="sng" w="12700">
            <a:solidFill>
              <a:srgbClr val="2A7F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2" name="Google Shape;92;p7"/>
          <p:cNvGrpSpPr/>
          <p:nvPr/>
        </p:nvGrpSpPr>
        <p:grpSpPr>
          <a:xfrm>
            <a:off x="365765" y="3161150"/>
            <a:ext cx="11247000" cy="3337905"/>
            <a:chOff x="502927" y="1280150"/>
            <a:chExt cx="11247000" cy="3337905"/>
          </a:xfrm>
        </p:grpSpPr>
        <p:sp>
          <p:nvSpPr>
            <p:cNvPr id="93" name="Google Shape;93;p7"/>
            <p:cNvSpPr/>
            <p:nvPr/>
          </p:nvSpPr>
          <p:spPr>
            <a:xfrm>
              <a:off x="502927" y="1280150"/>
              <a:ext cx="11247000" cy="3017400"/>
            </a:xfrm>
            <a:prstGeom prst="roundRect">
              <a:avLst>
                <a:gd fmla="val 3030" name="adj"/>
              </a:avLst>
            </a:prstGeom>
            <a:solidFill>
              <a:srgbClr val="FFFDF5"/>
            </a:solidFill>
            <a:ln cap="flat" cmpd="sng" w="9525">
              <a:solidFill>
                <a:srgbClr val="E6DCC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figs/scatter_1x4_meta_llama_3_8b_instruct_r0.8-1.png" id="94" name="Google Shape;94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36213" y="1463050"/>
              <a:ext cx="10719576" cy="26517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5" name="Google Shape;95;p7"/>
            <p:cNvSpPr/>
            <p:nvPr/>
          </p:nvSpPr>
          <p:spPr>
            <a:xfrm>
              <a:off x="2178730" y="4362155"/>
              <a:ext cx="7589400" cy="25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6B7A85"/>
                </a:buClr>
                <a:buSzPts val="1200"/>
                <a:buFont typeface="Calibri"/>
                <a:buNone/>
              </a:pPr>
              <a:r>
                <a:rPr b="0" i="1" lang="en-US" sz="2000" u="none" cap="none" strike="noStrike">
                  <a:solidFill>
                    <a:srgbClr val="6B7A85"/>
                  </a:solidFill>
                  <a:latin typeface="Calibri"/>
                  <a:ea typeface="Calibri"/>
                  <a:cs typeface="Calibri"/>
                  <a:sym typeface="Calibri"/>
                </a:rPr>
                <a:t>● Q  ▪ K  ▲ V</a:t>
              </a:r>
              <a:endPara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6" name="Google Shape;96;p7"/>
          <p:cNvSpPr txBox="1"/>
          <p:nvPr>
            <p:ph idx="4294967295" type="sldNum"/>
          </p:nvPr>
        </p:nvSpPr>
        <p:spPr>
          <a:xfrm>
            <a:off x="11750040" y="6565392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A8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B7A8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7"/>
          <p:cNvSpPr/>
          <p:nvPr/>
        </p:nvSpPr>
        <p:spPr>
          <a:xfrm>
            <a:off x="1541700" y="2576163"/>
            <a:ext cx="292500" cy="292500"/>
          </a:xfrm>
          <a:prstGeom prst="ellipse">
            <a:avLst/>
          </a:prstGeom>
          <a:solidFill>
            <a:srgbClr val="7A9B1B"/>
          </a:solidFill>
          <a:ln cap="flat" cmpd="sng" w="12700">
            <a:solidFill>
              <a:srgbClr val="7A9B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7"/>
          <p:cNvSpPr txBox="1"/>
          <p:nvPr/>
        </p:nvSpPr>
        <p:spPr>
          <a:xfrm>
            <a:off x="342325" y="1198150"/>
            <a:ext cx="11262600" cy="8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We find evidence of misalignment for different methods, compression ratios, allocation strategies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Example: 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8-alignment</a:t>
            </a: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 LLama-3-8B at 20% compression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5345625" y="2576163"/>
            <a:ext cx="292500" cy="292500"/>
          </a:xfrm>
          <a:prstGeom prst="ellipse">
            <a:avLst/>
          </a:prstGeom>
          <a:solidFill>
            <a:srgbClr val="D23B2E"/>
          </a:solidFill>
          <a:ln cap="flat" cmpd="sng" w="12700">
            <a:solidFill>
              <a:srgbClr val="7A9B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7"/>
          <p:cNvSpPr txBox="1"/>
          <p:nvPr/>
        </p:nvSpPr>
        <p:spPr>
          <a:xfrm>
            <a:off x="2065375" y="2476125"/>
            <a:ext cx="1141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Aligned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/>
          <p:cNvSpPr txBox="1"/>
          <p:nvPr/>
        </p:nvSpPr>
        <p:spPr>
          <a:xfrm>
            <a:off x="5812225" y="2476125"/>
            <a:ext cx="1433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Not a</a:t>
            </a: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ligned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8"/>
          <p:cNvSpPr/>
          <p:nvPr/>
        </p:nvSpPr>
        <p:spPr>
          <a:xfrm>
            <a:off x="472507" y="202870"/>
            <a:ext cx="11247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E3B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Why</a:t>
            </a:r>
            <a:r>
              <a:rPr b="1" lang="en-US" sz="2600">
                <a:solidFill>
                  <a:srgbClr val="0A2E3B"/>
                </a:solidFill>
                <a:latin typeface="Calibri"/>
                <a:ea typeface="Calibri"/>
                <a:cs typeface="Calibri"/>
                <a:sym typeface="Calibri"/>
              </a:rPr>
              <a:t> dimensional misalignment is a problem? </a:t>
            </a:r>
            <a:r>
              <a:rPr b="1" lang="en-US" sz="2600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Exemplified</a:t>
            </a:r>
            <a:r>
              <a:rPr b="1" lang="en-US" sz="2600">
                <a:solidFill>
                  <a:srgbClr val="0A2E3B"/>
                </a:solidFill>
                <a:latin typeface="Calibri"/>
                <a:ea typeface="Calibri"/>
                <a:cs typeface="Calibri"/>
                <a:sym typeface="Calibri"/>
              </a:rPr>
              <a:t> with </a:t>
            </a:r>
            <a:r>
              <a:rPr b="1" lang="en-US" sz="2600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SDPA</a:t>
            </a:r>
            <a:endParaRPr b="0" i="0" sz="2600" u="none" cap="none" strike="noStrike">
              <a:solidFill>
                <a:srgbClr val="98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8"/>
          <p:cNvSpPr/>
          <p:nvPr/>
        </p:nvSpPr>
        <p:spPr>
          <a:xfrm>
            <a:off x="502920" y="950976"/>
            <a:ext cx="411480" cy="36576"/>
          </a:xfrm>
          <a:prstGeom prst="rect">
            <a:avLst/>
          </a:prstGeom>
          <a:solidFill>
            <a:srgbClr val="2A7FB8"/>
          </a:solidFill>
          <a:ln cap="flat" cmpd="sng" w="12700">
            <a:solidFill>
              <a:srgbClr val="2A7F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igs/fig2_sdpa_latency-1.png" id="109" name="Google Shape;10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8555" y="2267715"/>
            <a:ext cx="6858000" cy="429768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8"/>
          <p:cNvSpPr/>
          <p:nvPr/>
        </p:nvSpPr>
        <p:spPr>
          <a:xfrm>
            <a:off x="597230" y="6291090"/>
            <a:ext cx="6858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85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B7A85"/>
                </a:solidFill>
                <a:latin typeface="Calibri"/>
                <a:ea typeface="Calibri"/>
                <a:cs typeface="Calibri"/>
                <a:sym typeface="Calibri"/>
              </a:rPr>
              <a:t>PyTorch SDPA latency sweep  ·  B=4, S=2048, H=32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8"/>
          <p:cNvSpPr/>
          <p:nvPr/>
        </p:nvSpPr>
        <p:spPr>
          <a:xfrm>
            <a:off x="7909460" y="2833485"/>
            <a:ext cx="3840600" cy="2331600"/>
          </a:xfrm>
          <a:prstGeom prst="roundRect">
            <a:avLst>
              <a:gd fmla="val 3137" name="adj"/>
            </a:avLst>
          </a:prstGeom>
          <a:solidFill>
            <a:srgbClr val="FCEADB"/>
          </a:solidFill>
          <a:ln cap="flat" cmpd="sng" w="15225">
            <a:solidFill>
              <a:srgbClr val="D23B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8"/>
          <p:cNvSpPr/>
          <p:nvPr/>
        </p:nvSpPr>
        <p:spPr>
          <a:xfrm>
            <a:off x="8092340" y="2998077"/>
            <a:ext cx="502800" cy="502800"/>
          </a:xfrm>
          <a:prstGeom prst="ellipse">
            <a:avLst/>
          </a:prstGeom>
          <a:solidFill>
            <a:srgbClr val="D23B2E"/>
          </a:solidFill>
          <a:ln cap="flat" cmpd="sng" w="12700">
            <a:solidFill>
              <a:srgbClr val="D23B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8"/>
          <p:cNvSpPr/>
          <p:nvPr/>
        </p:nvSpPr>
        <p:spPr>
          <a:xfrm>
            <a:off x="8092340" y="2998077"/>
            <a:ext cx="502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DF5"/>
              </a:buClr>
              <a:buSzPts val="3000"/>
              <a:buFont typeface="Calibri"/>
              <a:buNone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💡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8"/>
          <p:cNvSpPr/>
          <p:nvPr/>
        </p:nvSpPr>
        <p:spPr>
          <a:xfrm>
            <a:off x="8701800" y="2998073"/>
            <a:ext cx="30177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Backend fallback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8"/>
          <p:cNvSpPr/>
          <p:nvPr/>
        </p:nvSpPr>
        <p:spPr>
          <a:xfrm>
            <a:off x="8092340" y="3985629"/>
            <a:ext cx="3520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C66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8"/>
          <p:cNvSpPr/>
          <p:nvPr/>
        </p:nvSpPr>
        <p:spPr>
          <a:xfrm>
            <a:off x="8069500" y="3654118"/>
            <a:ext cx="35205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4200" u="none" cap="none" strike="noStrike">
                <a:solidFill>
                  <a:srgbClr val="D23B2E"/>
                </a:solidFill>
                <a:latin typeface="Calibri"/>
                <a:ea typeface="Calibri"/>
                <a:cs typeface="Calibri"/>
                <a:sym typeface="Calibri"/>
              </a:rPr>
              <a:t>+90% latency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8"/>
          <p:cNvSpPr txBox="1"/>
          <p:nvPr>
            <p:ph idx="4294967295" type="sldNum"/>
          </p:nvPr>
        </p:nvSpPr>
        <p:spPr>
          <a:xfrm>
            <a:off x="11750040" y="6565392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A8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B7A8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8"/>
          <p:cNvSpPr txBox="1"/>
          <p:nvPr/>
        </p:nvSpPr>
        <p:spPr>
          <a:xfrm>
            <a:off x="257175" y="955100"/>
            <a:ext cx="100440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Scaled Dot Product Attention is a key kernel in LLM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Pytorch </a:t>
            </a:r>
            <a:r>
              <a:rPr lang="en-US" sz="2200">
                <a:solidFill>
                  <a:schemeClr val="dk1"/>
                </a:solidFill>
              </a:rPr>
              <a:t>uses </a:t>
            </a:r>
            <a:r>
              <a:rPr lang="en-US" sz="2200">
                <a:solidFill>
                  <a:schemeClr val="dk1"/>
                </a:solidFill>
              </a:rPr>
              <a:t> </a:t>
            </a:r>
            <a:r>
              <a:rPr b="1" lang="en-US" sz="2200">
                <a:solidFill>
                  <a:schemeClr val="dk1"/>
                </a:solidFill>
              </a:rPr>
              <a:t>Flash Attention Backend </a:t>
            </a:r>
            <a:r>
              <a:rPr lang="en-US" sz="2200">
                <a:solidFill>
                  <a:schemeClr val="dk1"/>
                </a:solidFill>
              </a:rPr>
              <a:t>only if dims are 8-aligned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When not 8-aligned, Pytorch fallbacks to naive </a:t>
            </a:r>
            <a:r>
              <a:rPr b="1" lang="en-US" sz="2200">
                <a:solidFill>
                  <a:schemeClr val="dk1"/>
                </a:solidFill>
              </a:rPr>
              <a:t>Math Backend</a:t>
            </a:r>
            <a:endParaRPr b="1"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"/>
          <p:cNvSpPr/>
          <p:nvPr/>
        </p:nvSpPr>
        <p:spPr>
          <a:xfrm>
            <a:off x="502920" y="27432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E3B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Full Stack </a:t>
            </a:r>
            <a:r>
              <a:rPr b="1" lang="en-US" sz="2600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Root Cause </a:t>
            </a:r>
            <a:r>
              <a:rPr b="1" lang="en-US" sz="2600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Analysis</a:t>
            </a:r>
            <a:endParaRPr b="0" i="0" sz="2600" u="none" cap="none" strike="noStrike">
              <a:solidFill>
                <a:srgbClr val="98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9"/>
          <p:cNvSpPr/>
          <p:nvPr/>
        </p:nvSpPr>
        <p:spPr>
          <a:xfrm>
            <a:off x="502920" y="950976"/>
            <a:ext cx="411480" cy="36576"/>
          </a:xfrm>
          <a:prstGeom prst="rect">
            <a:avLst/>
          </a:prstGeom>
          <a:solidFill>
            <a:srgbClr val="2A7FB8"/>
          </a:solidFill>
          <a:ln cap="flat" cmpd="sng" w="12700">
            <a:solidFill>
              <a:srgbClr val="2A7F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9"/>
          <p:cNvSpPr/>
          <p:nvPr/>
        </p:nvSpPr>
        <p:spPr>
          <a:xfrm>
            <a:off x="502920" y="1234440"/>
            <a:ext cx="3520440" cy="2331720"/>
          </a:xfrm>
          <a:prstGeom prst="roundRect">
            <a:avLst>
              <a:gd fmla="val 3922" name="adj"/>
            </a:avLst>
          </a:prstGeom>
          <a:solidFill>
            <a:srgbClr val="FFFDF5"/>
          </a:solidFill>
          <a:ln cap="flat" cmpd="sng" w="25400">
            <a:solidFill>
              <a:srgbClr val="2A7F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9"/>
          <p:cNvSpPr/>
          <p:nvPr/>
        </p:nvSpPr>
        <p:spPr>
          <a:xfrm>
            <a:off x="731520" y="1417320"/>
            <a:ext cx="548640" cy="548640"/>
          </a:xfrm>
          <a:prstGeom prst="ellipse">
            <a:avLst/>
          </a:prstGeom>
          <a:solidFill>
            <a:srgbClr val="2A7FB8"/>
          </a:solidFill>
          <a:ln cap="flat" cmpd="sng" w="12700">
            <a:solidFill>
              <a:srgbClr val="2A7F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9"/>
          <p:cNvSpPr/>
          <p:nvPr/>
        </p:nvSpPr>
        <p:spPr>
          <a:xfrm>
            <a:off x="731520" y="141732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DF5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DF5"/>
                </a:solidFill>
                <a:latin typeface="Calibri"/>
                <a:ea typeface="Calibri"/>
                <a:cs typeface="Calibri"/>
                <a:sym typeface="Calibri"/>
              </a:rPr>
              <a:t>❍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9"/>
          <p:cNvSpPr/>
          <p:nvPr/>
        </p:nvSpPr>
        <p:spPr>
          <a:xfrm>
            <a:off x="1417320" y="1463040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E3B"/>
              </a:buClr>
              <a:buSzPts val="2000"/>
              <a:buFont typeface="Calibri"/>
              <a:buNone/>
            </a:pPr>
            <a:r>
              <a:rPr b="1" i="0" lang="en-US" sz="2400" u="none" cap="none" strike="noStrike">
                <a:solidFill>
                  <a:srgbClr val="0A2E3B"/>
                </a:solidFill>
                <a:latin typeface="Calibri"/>
                <a:ea typeface="Calibri"/>
                <a:cs typeface="Calibri"/>
                <a:sym typeface="Calibri"/>
              </a:rPr>
              <a:t>Framework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9"/>
          <p:cNvSpPr/>
          <p:nvPr/>
        </p:nvSpPr>
        <p:spPr>
          <a:xfrm>
            <a:off x="1417320" y="1783080"/>
            <a:ext cx="2468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5"/>
              </a:buClr>
              <a:buSzPts val="1200"/>
              <a:buFont typeface="Calibri"/>
              <a:buNone/>
            </a:pPr>
            <a:r>
              <a:rPr b="0" i="1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FlashAttn  /  Math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9"/>
          <p:cNvSpPr/>
          <p:nvPr/>
        </p:nvSpPr>
        <p:spPr>
          <a:xfrm>
            <a:off x="731520" y="2286000"/>
            <a:ext cx="3154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A85"/>
                </a:solidFill>
                <a:latin typeface="Calibri"/>
                <a:ea typeface="Calibri"/>
                <a:cs typeface="Calibri"/>
                <a:sym typeface="Calibri"/>
              </a:rPr>
              <a:t>worst case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9"/>
          <p:cNvSpPr/>
          <p:nvPr/>
        </p:nvSpPr>
        <p:spPr>
          <a:xfrm>
            <a:off x="731520" y="2514600"/>
            <a:ext cx="31546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7FB8"/>
              </a:buClr>
              <a:buSzPts val="4800"/>
              <a:buFont typeface="Calibri"/>
              <a:buNone/>
            </a:pPr>
            <a:r>
              <a:rPr b="1" lang="en-US" sz="4800">
                <a:solidFill>
                  <a:srgbClr val="2A7FB8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b="1" i="0" lang="en-US" sz="4800" u="none" cap="none" strike="noStrike">
                <a:solidFill>
                  <a:srgbClr val="2A7FB8"/>
                </a:solidFill>
                <a:latin typeface="Calibri"/>
                <a:ea typeface="Calibri"/>
                <a:cs typeface="Calibri"/>
                <a:sym typeface="Calibri"/>
              </a:rPr>
              <a:t>90%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9"/>
          <p:cNvSpPr/>
          <p:nvPr/>
        </p:nvSpPr>
        <p:spPr>
          <a:xfrm>
            <a:off x="4343400" y="1234440"/>
            <a:ext cx="3520440" cy="2331720"/>
          </a:xfrm>
          <a:prstGeom prst="roundRect">
            <a:avLst>
              <a:gd fmla="val 3922" name="adj"/>
            </a:avLst>
          </a:prstGeom>
          <a:solidFill>
            <a:srgbClr val="FFFDF5"/>
          </a:solidFill>
          <a:ln cap="flat" cmpd="sng" w="25400">
            <a:solidFill>
              <a:srgbClr val="CB62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9"/>
          <p:cNvSpPr/>
          <p:nvPr/>
        </p:nvSpPr>
        <p:spPr>
          <a:xfrm>
            <a:off x="4572000" y="1417320"/>
            <a:ext cx="548640" cy="548640"/>
          </a:xfrm>
          <a:prstGeom prst="ellipse">
            <a:avLst/>
          </a:prstGeom>
          <a:solidFill>
            <a:srgbClr val="CB6218"/>
          </a:solidFill>
          <a:ln cap="flat" cmpd="sng" w="12700">
            <a:solidFill>
              <a:srgbClr val="CB62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9"/>
          <p:cNvSpPr/>
          <p:nvPr/>
        </p:nvSpPr>
        <p:spPr>
          <a:xfrm>
            <a:off x="4572000" y="141732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DF5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DF5"/>
                </a:solidFill>
                <a:latin typeface="Calibri"/>
                <a:ea typeface="Calibri"/>
                <a:cs typeface="Calibri"/>
                <a:sym typeface="Calibri"/>
              </a:rPr>
              <a:t>⚙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9"/>
          <p:cNvSpPr/>
          <p:nvPr/>
        </p:nvSpPr>
        <p:spPr>
          <a:xfrm>
            <a:off x="5257800" y="1463040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E3B"/>
              </a:buClr>
              <a:buSzPts val="2000"/>
              <a:buFont typeface="Calibri"/>
              <a:buNone/>
            </a:pPr>
            <a:r>
              <a:rPr b="1" i="0" lang="en-US" sz="2400" u="none" cap="none" strike="noStrike">
                <a:solidFill>
                  <a:srgbClr val="0A2E3B"/>
                </a:solidFill>
                <a:latin typeface="Calibri"/>
                <a:ea typeface="Calibri"/>
                <a:cs typeface="Calibri"/>
                <a:sym typeface="Calibri"/>
              </a:rPr>
              <a:t>Library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9"/>
          <p:cNvSpPr/>
          <p:nvPr/>
        </p:nvSpPr>
        <p:spPr>
          <a:xfrm>
            <a:off x="5257800" y="1783080"/>
            <a:ext cx="2468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5"/>
              </a:buClr>
              <a:buSzPts val="1200"/>
              <a:buFont typeface="Calibri"/>
              <a:buNone/>
            </a:pPr>
            <a:r>
              <a:rPr b="0" i="1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cuBLAS  /  CUTLASS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9"/>
          <p:cNvSpPr/>
          <p:nvPr/>
        </p:nvSpPr>
        <p:spPr>
          <a:xfrm>
            <a:off x="4572000" y="2286000"/>
            <a:ext cx="3154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A85"/>
                </a:solidFill>
                <a:latin typeface="Calibri"/>
                <a:ea typeface="Calibri"/>
                <a:cs typeface="Calibri"/>
                <a:sym typeface="Calibri"/>
              </a:rPr>
              <a:t>worst case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9"/>
          <p:cNvSpPr/>
          <p:nvPr/>
        </p:nvSpPr>
        <p:spPr>
          <a:xfrm>
            <a:off x="4572000" y="2514600"/>
            <a:ext cx="31546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6218"/>
              </a:buClr>
              <a:buSzPts val="4800"/>
              <a:buFont typeface="Calibri"/>
              <a:buNone/>
            </a:pPr>
            <a:r>
              <a:rPr b="1" lang="en-US" sz="4800">
                <a:solidFill>
                  <a:srgbClr val="CB6218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b="1" i="0" lang="en-US" sz="4800" u="none" cap="none" strike="noStrike">
                <a:solidFill>
                  <a:srgbClr val="CB6218"/>
                </a:solidFill>
                <a:latin typeface="Calibri"/>
                <a:ea typeface="Calibri"/>
                <a:cs typeface="Calibri"/>
                <a:sym typeface="Calibri"/>
              </a:rPr>
              <a:t>30%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9"/>
          <p:cNvSpPr/>
          <p:nvPr/>
        </p:nvSpPr>
        <p:spPr>
          <a:xfrm>
            <a:off x="8183880" y="1234440"/>
            <a:ext cx="3520440" cy="2331720"/>
          </a:xfrm>
          <a:prstGeom prst="roundRect">
            <a:avLst>
              <a:gd fmla="val 3922" name="adj"/>
            </a:avLst>
          </a:prstGeom>
          <a:solidFill>
            <a:srgbClr val="FFFDF5"/>
          </a:solidFill>
          <a:ln cap="flat" cmpd="sng" w="25400">
            <a:solidFill>
              <a:srgbClr val="D23B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9"/>
          <p:cNvSpPr/>
          <p:nvPr/>
        </p:nvSpPr>
        <p:spPr>
          <a:xfrm>
            <a:off x="8412480" y="1417320"/>
            <a:ext cx="548640" cy="548640"/>
          </a:xfrm>
          <a:prstGeom prst="ellipse">
            <a:avLst/>
          </a:prstGeom>
          <a:solidFill>
            <a:srgbClr val="D23B2E"/>
          </a:solidFill>
          <a:ln cap="flat" cmpd="sng" w="12700">
            <a:solidFill>
              <a:srgbClr val="D23B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9"/>
          <p:cNvSpPr/>
          <p:nvPr/>
        </p:nvSpPr>
        <p:spPr>
          <a:xfrm>
            <a:off x="8412480" y="141732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DF5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DF5"/>
                </a:solidFill>
                <a:latin typeface="Calibri"/>
                <a:ea typeface="Calibri"/>
                <a:cs typeface="Calibri"/>
                <a:sym typeface="Calibri"/>
              </a:rPr>
              <a:t>▦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9"/>
          <p:cNvSpPr/>
          <p:nvPr/>
        </p:nvSpPr>
        <p:spPr>
          <a:xfrm>
            <a:off x="9098280" y="1463040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E3B"/>
              </a:buClr>
              <a:buSzPts val="2000"/>
              <a:buFont typeface="Calibri"/>
              <a:buNone/>
            </a:pPr>
            <a:r>
              <a:rPr b="1" i="0" lang="en-US" sz="2400" u="none" cap="none" strike="noStrike">
                <a:solidFill>
                  <a:srgbClr val="0A2E3B"/>
                </a:solidFill>
                <a:latin typeface="Calibri"/>
                <a:ea typeface="Calibri"/>
                <a:cs typeface="Calibri"/>
                <a:sym typeface="Calibri"/>
              </a:rPr>
              <a:t>Hardware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9"/>
          <p:cNvSpPr/>
          <p:nvPr/>
        </p:nvSpPr>
        <p:spPr>
          <a:xfrm>
            <a:off x="8961125" y="1783075"/>
            <a:ext cx="2894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5"/>
              </a:buClr>
              <a:buSzPts val="1200"/>
              <a:buFont typeface="Calibri"/>
              <a:buNone/>
            </a:pPr>
            <a:r>
              <a:rPr b="0" i="1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Tensor Core </a:t>
            </a:r>
            <a:r>
              <a:rPr i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 L2 Cache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9"/>
          <p:cNvSpPr/>
          <p:nvPr/>
        </p:nvSpPr>
        <p:spPr>
          <a:xfrm>
            <a:off x="8412480" y="2286000"/>
            <a:ext cx="3154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A85"/>
                </a:solidFill>
                <a:latin typeface="Calibri"/>
                <a:ea typeface="Calibri"/>
                <a:cs typeface="Calibri"/>
                <a:sym typeface="Calibri"/>
              </a:rPr>
              <a:t>worst case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9"/>
          <p:cNvSpPr/>
          <p:nvPr/>
        </p:nvSpPr>
        <p:spPr>
          <a:xfrm>
            <a:off x="8412480" y="2514600"/>
            <a:ext cx="31546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23B2E"/>
              </a:buClr>
              <a:buSzPts val="4800"/>
              <a:buFont typeface="Calibri"/>
              <a:buNone/>
            </a:pPr>
            <a:r>
              <a:rPr b="1" lang="en-US" sz="4800">
                <a:solidFill>
                  <a:srgbClr val="D23B2E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b="1" i="0" lang="en-US" sz="4800" u="none" cap="none" strike="noStrike">
                <a:solidFill>
                  <a:srgbClr val="D23B2E"/>
                </a:solidFill>
                <a:latin typeface="Calibri"/>
                <a:ea typeface="Calibri"/>
                <a:cs typeface="Calibri"/>
                <a:sym typeface="Calibri"/>
              </a:rPr>
              <a:t>70%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9"/>
          <p:cNvSpPr/>
          <p:nvPr/>
        </p:nvSpPr>
        <p:spPr>
          <a:xfrm>
            <a:off x="3886200" y="201168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85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6B7A85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9"/>
          <p:cNvSpPr/>
          <p:nvPr/>
        </p:nvSpPr>
        <p:spPr>
          <a:xfrm>
            <a:off x="7726680" y="201168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85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6B7A85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9"/>
          <p:cNvSpPr/>
          <p:nvPr/>
        </p:nvSpPr>
        <p:spPr>
          <a:xfrm>
            <a:off x="502920" y="3840480"/>
            <a:ext cx="11247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6218"/>
              </a:buClr>
              <a:buSzPts val="1200"/>
              <a:buFont typeface="Calibri"/>
              <a:buNone/>
            </a:pPr>
            <a:r>
              <a:rPr b="1" i="0" lang="en-US" sz="2200" u="none" cap="none" strike="noStrike">
                <a:solidFill>
                  <a:srgbClr val="CB6218"/>
                </a:solidFill>
                <a:latin typeface="Calibri"/>
                <a:ea typeface="Calibri"/>
                <a:cs typeface="Calibri"/>
                <a:sym typeface="Calibri"/>
              </a:rPr>
              <a:t>Alignment </a:t>
            </a:r>
            <a:r>
              <a:rPr b="1" lang="en-US" sz="2200">
                <a:solidFill>
                  <a:srgbClr val="CB6218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1" i="0" lang="en-US" sz="2200" u="none" cap="none" strike="noStrike">
                <a:solidFill>
                  <a:srgbClr val="CB6218"/>
                </a:solidFill>
                <a:latin typeface="Calibri"/>
                <a:ea typeface="Calibri"/>
                <a:cs typeface="Calibri"/>
                <a:sym typeface="Calibri"/>
              </a:rPr>
              <a:t>onstraints Table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9"/>
          <p:cNvSpPr/>
          <p:nvPr/>
        </p:nvSpPr>
        <p:spPr>
          <a:xfrm>
            <a:off x="502920" y="4251960"/>
            <a:ext cx="11247120" cy="411480"/>
          </a:xfrm>
          <a:prstGeom prst="rect">
            <a:avLst/>
          </a:prstGeom>
          <a:solidFill>
            <a:srgbClr val="FFFDF5"/>
          </a:solidFill>
          <a:ln cap="flat" cmpd="sng" w="12700">
            <a:solidFill>
              <a:srgbClr val="E6DC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9"/>
          <p:cNvSpPr/>
          <p:nvPr/>
        </p:nvSpPr>
        <p:spPr>
          <a:xfrm>
            <a:off x="731520" y="4389120"/>
            <a:ext cx="164592" cy="164592"/>
          </a:xfrm>
          <a:prstGeom prst="ellipse">
            <a:avLst/>
          </a:prstGeom>
          <a:solidFill>
            <a:srgbClr val="2A7FB8"/>
          </a:solidFill>
          <a:ln cap="flat" cmpd="sng" w="12700">
            <a:solidFill>
              <a:srgbClr val="2A7F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9"/>
          <p:cNvSpPr/>
          <p:nvPr/>
        </p:nvSpPr>
        <p:spPr>
          <a:xfrm>
            <a:off x="1005840" y="4251960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7FB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A7FB8"/>
                </a:solidFill>
                <a:latin typeface="Calibri"/>
                <a:ea typeface="Calibri"/>
                <a:cs typeface="Calibri"/>
                <a:sym typeface="Calibri"/>
              </a:rPr>
              <a:t>Framework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9"/>
          <p:cNvSpPr/>
          <p:nvPr/>
        </p:nvSpPr>
        <p:spPr>
          <a:xfrm>
            <a:off x="2834640" y="4251960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E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A2E3B"/>
                </a:solidFill>
                <a:latin typeface="Calibri"/>
                <a:ea typeface="Calibri"/>
                <a:cs typeface="Calibri"/>
                <a:sym typeface="Calibri"/>
              </a:rPr>
              <a:t>SDPA backend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9"/>
          <p:cNvSpPr/>
          <p:nvPr/>
        </p:nvSpPr>
        <p:spPr>
          <a:xfrm>
            <a:off x="5852160" y="4251960"/>
            <a:ext cx="3474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C66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4A5C66"/>
                </a:solidFill>
                <a:latin typeface="Courier New"/>
                <a:ea typeface="Courier New"/>
                <a:cs typeface="Courier New"/>
                <a:sym typeface="Courier New"/>
              </a:rPr>
              <a:t>d  %  8 = 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9"/>
          <p:cNvSpPr/>
          <p:nvPr/>
        </p:nvSpPr>
        <p:spPr>
          <a:xfrm>
            <a:off x="9601200" y="4251960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23B2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D23B2E"/>
                </a:solidFill>
                <a:latin typeface="Calibri"/>
                <a:ea typeface="Calibri"/>
                <a:cs typeface="Calibri"/>
                <a:sym typeface="Calibri"/>
              </a:rPr>
              <a:t>~90%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9"/>
          <p:cNvSpPr/>
          <p:nvPr/>
        </p:nvSpPr>
        <p:spPr>
          <a:xfrm>
            <a:off x="502920" y="4663440"/>
            <a:ext cx="11247000" cy="411600"/>
          </a:xfrm>
          <a:prstGeom prst="rect">
            <a:avLst/>
          </a:prstGeom>
          <a:solidFill>
            <a:srgbClr val="FCFAF0"/>
          </a:solidFill>
          <a:ln cap="flat" cmpd="sng" w="12700">
            <a:solidFill>
              <a:srgbClr val="E6DC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9"/>
          <p:cNvSpPr/>
          <p:nvPr/>
        </p:nvSpPr>
        <p:spPr>
          <a:xfrm>
            <a:off x="731520" y="4800600"/>
            <a:ext cx="164592" cy="164592"/>
          </a:xfrm>
          <a:prstGeom prst="ellipse">
            <a:avLst/>
          </a:prstGeom>
          <a:solidFill>
            <a:srgbClr val="2A7FB8"/>
          </a:solidFill>
          <a:ln cap="flat" cmpd="sng" w="12700">
            <a:solidFill>
              <a:srgbClr val="2A7F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9"/>
          <p:cNvSpPr/>
          <p:nvPr/>
        </p:nvSpPr>
        <p:spPr>
          <a:xfrm>
            <a:off x="1005840" y="4663440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7FB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A7FB8"/>
                </a:solidFill>
                <a:latin typeface="Calibri"/>
                <a:ea typeface="Calibri"/>
                <a:cs typeface="Calibri"/>
                <a:sym typeface="Calibri"/>
              </a:rPr>
              <a:t>Framework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9"/>
          <p:cNvSpPr/>
          <p:nvPr/>
        </p:nvSpPr>
        <p:spPr>
          <a:xfrm>
            <a:off x="2834640" y="4663440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E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A2E3B"/>
                </a:solidFill>
                <a:latin typeface="Calibri"/>
                <a:ea typeface="Calibri"/>
                <a:cs typeface="Calibri"/>
                <a:sym typeface="Calibri"/>
              </a:rPr>
              <a:t>FA2 template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9"/>
          <p:cNvSpPr/>
          <p:nvPr/>
        </p:nvSpPr>
        <p:spPr>
          <a:xfrm>
            <a:off x="5852160" y="4663440"/>
            <a:ext cx="3474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C66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4A5C66"/>
                </a:solidFill>
                <a:latin typeface="Courier New"/>
                <a:ea typeface="Courier New"/>
                <a:cs typeface="Courier New"/>
                <a:sym typeface="Courier New"/>
              </a:rPr>
              <a:t>d  %  32 = 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9601200" y="4663440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23B2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D23B2E"/>
                </a:solidFill>
                <a:latin typeface="Calibri"/>
                <a:ea typeface="Calibri"/>
                <a:cs typeface="Calibri"/>
                <a:sym typeface="Calibri"/>
              </a:rPr>
              <a:t>~30%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502920" y="5074920"/>
            <a:ext cx="11247120" cy="411480"/>
          </a:xfrm>
          <a:prstGeom prst="rect">
            <a:avLst/>
          </a:prstGeom>
          <a:solidFill>
            <a:srgbClr val="FFFDF5"/>
          </a:solidFill>
          <a:ln cap="flat" cmpd="sng" w="12700">
            <a:solidFill>
              <a:srgbClr val="E6DC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9"/>
          <p:cNvSpPr/>
          <p:nvPr/>
        </p:nvSpPr>
        <p:spPr>
          <a:xfrm>
            <a:off x="731520" y="5212080"/>
            <a:ext cx="164592" cy="164592"/>
          </a:xfrm>
          <a:prstGeom prst="ellipse">
            <a:avLst/>
          </a:prstGeom>
          <a:solidFill>
            <a:srgbClr val="CB6218"/>
          </a:solidFill>
          <a:ln cap="flat" cmpd="sng" w="12700">
            <a:solidFill>
              <a:srgbClr val="CB62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9"/>
          <p:cNvSpPr/>
          <p:nvPr/>
        </p:nvSpPr>
        <p:spPr>
          <a:xfrm>
            <a:off x="1005840" y="5074920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621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B6218"/>
                </a:solidFill>
                <a:latin typeface="Calibri"/>
                <a:ea typeface="Calibri"/>
                <a:cs typeface="Calibri"/>
                <a:sym typeface="Calibri"/>
              </a:rPr>
              <a:t>Library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2834640" y="5074920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E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A2E3B"/>
                </a:solidFill>
                <a:latin typeface="Calibri"/>
                <a:ea typeface="Calibri"/>
                <a:cs typeface="Calibri"/>
                <a:sym typeface="Calibri"/>
              </a:rPr>
              <a:t>cuBLAS GEMM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5852160" y="5074920"/>
            <a:ext cx="3474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C66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4A5C66"/>
                </a:solidFill>
                <a:latin typeface="Courier New"/>
                <a:ea typeface="Courier New"/>
                <a:cs typeface="Courier New"/>
                <a:sym typeface="Courier New"/>
              </a:rPr>
              <a:t>K, N  %  8 = 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9"/>
          <p:cNvSpPr/>
          <p:nvPr/>
        </p:nvSpPr>
        <p:spPr>
          <a:xfrm>
            <a:off x="9601200" y="5074920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23B2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D23B2E"/>
                </a:solidFill>
                <a:latin typeface="Calibri"/>
                <a:ea typeface="Calibri"/>
                <a:cs typeface="Calibri"/>
                <a:sym typeface="Calibri"/>
              </a:rPr>
              <a:t>~30%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9"/>
          <p:cNvSpPr/>
          <p:nvPr/>
        </p:nvSpPr>
        <p:spPr>
          <a:xfrm>
            <a:off x="502920" y="5486400"/>
            <a:ext cx="11247120" cy="411480"/>
          </a:xfrm>
          <a:prstGeom prst="rect">
            <a:avLst/>
          </a:prstGeom>
          <a:solidFill>
            <a:srgbClr val="FCFAF0"/>
          </a:solidFill>
          <a:ln cap="flat" cmpd="sng" w="12700">
            <a:solidFill>
              <a:srgbClr val="E6DC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9"/>
          <p:cNvSpPr/>
          <p:nvPr/>
        </p:nvSpPr>
        <p:spPr>
          <a:xfrm>
            <a:off x="731520" y="5623560"/>
            <a:ext cx="164592" cy="164592"/>
          </a:xfrm>
          <a:prstGeom prst="ellipse">
            <a:avLst/>
          </a:prstGeom>
          <a:solidFill>
            <a:srgbClr val="D23B2E"/>
          </a:solidFill>
          <a:ln cap="flat" cmpd="sng" w="12700">
            <a:solidFill>
              <a:srgbClr val="D23B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9"/>
          <p:cNvSpPr/>
          <p:nvPr/>
        </p:nvSpPr>
        <p:spPr>
          <a:xfrm>
            <a:off x="1005840" y="5486400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23B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D23B2E"/>
                </a:solidFill>
                <a:latin typeface="Calibri"/>
                <a:ea typeface="Calibri"/>
                <a:cs typeface="Calibri"/>
                <a:sym typeface="Calibri"/>
              </a:rPr>
              <a:t>Hardware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2834640" y="5486400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E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A2E3B"/>
                </a:solidFill>
                <a:latin typeface="Calibri"/>
                <a:ea typeface="Calibri"/>
                <a:cs typeface="Calibri"/>
                <a:sym typeface="Calibri"/>
              </a:rPr>
              <a:t>Tensor Core  +  L2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5852160" y="5486400"/>
            <a:ext cx="3474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C66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4A5C66"/>
                </a:solidFill>
                <a:latin typeface="Courier New"/>
                <a:ea typeface="Courier New"/>
                <a:cs typeface="Courier New"/>
                <a:sym typeface="Courier New"/>
              </a:rPr>
              <a:t>K  %  16 = 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9601200" y="5486400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23B2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D23B2E"/>
                </a:solidFill>
                <a:latin typeface="Calibri"/>
                <a:ea typeface="Calibri"/>
                <a:cs typeface="Calibri"/>
                <a:sym typeface="Calibri"/>
              </a:rPr>
              <a:t>~70%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9"/>
          <p:cNvSpPr txBox="1"/>
          <p:nvPr>
            <p:ph idx="4294967295" type="sldNum"/>
          </p:nvPr>
        </p:nvSpPr>
        <p:spPr>
          <a:xfrm>
            <a:off x="11750040" y="6565392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A8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B7A8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0"/>
          <p:cNvSpPr/>
          <p:nvPr/>
        </p:nvSpPr>
        <p:spPr>
          <a:xfrm>
            <a:off x="472495" y="338195"/>
            <a:ext cx="11247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E3B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Our Proposal </a:t>
            </a:r>
            <a:r>
              <a:rPr b="1" i="0" lang="en-US" sz="2600" u="none" cap="none" strike="noStrike">
                <a:solidFill>
                  <a:srgbClr val="0A2E3B"/>
                </a:solidFill>
                <a:latin typeface="Calibri"/>
                <a:ea typeface="Calibri"/>
                <a:cs typeface="Calibri"/>
                <a:sym typeface="Calibri"/>
              </a:rPr>
              <a:t>GAC:</a:t>
            </a:r>
            <a:r>
              <a:rPr b="1" lang="en-US" sz="2600">
                <a:solidFill>
                  <a:srgbClr val="0A2E3B"/>
                </a:solidFill>
                <a:latin typeface="Calibri"/>
                <a:ea typeface="Calibri"/>
                <a:cs typeface="Calibri"/>
                <a:sym typeface="Calibri"/>
              </a:rPr>
              <a:t>GPU-Aligned Compression; </a:t>
            </a:r>
            <a:br>
              <a:rPr b="1" lang="en-US" sz="2600">
                <a:solidFill>
                  <a:srgbClr val="0A2E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2200">
                <a:solidFill>
                  <a:srgbClr val="0A2E3B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1" lang="en-US" sz="2200">
                <a:solidFill>
                  <a:srgbClr val="0A2E3B"/>
                </a:solidFill>
                <a:latin typeface="Calibri"/>
                <a:ea typeface="Calibri"/>
                <a:cs typeface="Calibri"/>
                <a:sym typeface="Calibri"/>
              </a:rPr>
              <a:t>ot a compressor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en-US" sz="2200">
                <a:solidFill>
                  <a:srgbClr val="0A2E3B"/>
                </a:solidFill>
                <a:latin typeface="Calibri"/>
                <a:ea typeface="Calibri"/>
                <a:cs typeface="Calibri"/>
                <a:sym typeface="Calibri"/>
              </a:rPr>
              <a:t>but a new compression </a:t>
            </a:r>
            <a:r>
              <a:rPr b="1" lang="en-US" sz="2200">
                <a:solidFill>
                  <a:srgbClr val="0A2E3B"/>
                </a:solidFill>
                <a:latin typeface="Calibri"/>
                <a:ea typeface="Calibri"/>
                <a:cs typeface="Calibri"/>
                <a:sym typeface="Calibri"/>
              </a:rPr>
              <a:t>paradigm</a:t>
            </a:r>
            <a:r>
              <a:rPr b="1" lang="en-US" sz="2200">
                <a:solidFill>
                  <a:srgbClr val="0A2E3B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0"/>
          <p:cNvSpPr/>
          <p:nvPr/>
        </p:nvSpPr>
        <p:spPr>
          <a:xfrm>
            <a:off x="502920" y="1060701"/>
            <a:ext cx="411600" cy="36600"/>
          </a:xfrm>
          <a:prstGeom prst="rect">
            <a:avLst/>
          </a:prstGeom>
          <a:solidFill>
            <a:srgbClr val="2A7FB8"/>
          </a:solidFill>
          <a:ln cap="flat" cmpd="sng" w="12700">
            <a:solidFill>
              <a:srgbClr val="2A7F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0"/>
          <p:cNvSpPr/>
          <p:nvPr/>
        </p:nvSpPr>
        <p:spPr>
          <a:xfrm>
            <a:off x="502920" y="1371600"/>
            <a:ext cx="2103120" cy="3657600"/>
          </a:xfrm>
          <a:prstGeom prst="roundRect">
            <a:avLst>
              <a:gd fmla="val 4348" name="adj"/>
            </a:avLst>
          </a:prstGeom>
          <a:solidFill>
            <a:srgbClr val="FFFDF5"/>
          </a:solidFill>
          <a:ln cap="flat" cmpd="sng" w="12700">
            <a:solidFill>
              <a:srgbClr val="E6DC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0"/>
          <p:cNvSpPr/>
          <p:nvPr/>
        </p:nvSpPr>
        <p:spPr>
          <a:xfrm>
            <a:off x="1325880" y="1645920"/>
            <a:ext cx="457200" cy="457200"/>
          </a:xfrm>
          <a:prstGeom prst="ellipse">
            <a:avLst/>
          </a:prstGeom>
          <a:solidFill>
            <a:srgbClr val="6B7A85"/>
          </a:solidFill>
          <a:ln cap="flat" cmpd="sng" w="12700">
            <a:solidFill>
              <a:srgbClr val="6B7A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0"/>
          <p:cNvSpPr/>
          <p:nvPr/>
        </p:nvSpPr>
        <p:spPr>
          <a:xfrm>
            <a:off x="1325880" y="16459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DF5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DF5"/>
                </a:solidFill>
                <a:latin typeface="Calibri"/>
                <a:ea typeface="Calibri"/>
                <a:cs typeface="Calibri"/>
                <a:sym typeface="Calibri"/>
              </a:rPr>
              <a:t>∎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0"/>
          <p:cNvSpPr/>
          <p:nvPr/>
        </p:nvSpPr>
        <p:spPr>
          <a:xfrm>
            <a:off x="502920" y="2240280"/>
            <a:ext cx="2103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85"/>
              </a:buClr>
              <a:buSzPts val="1100"/>
              <a:buFont typeface="Calibri"/>
              <a:buNone/>
            </a:pPr>
            <a:r>
              <a:rPr b="1" i="0" lang="en-US" sz="2200" u="none" cap="none" strike="noStrike">
                <a:solidFill>
                  <a:srgbClr val="6B7A85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0"/>
          <p:cNvSpPr/>
          <p:nvPr/>
        </p:nvSpPr>
        <p:spPr>
          <a:xfrm>
            <a:off x="594360" y="2606040"/>
            <a:ext cx="192024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E3B"/>
              </a:buClr>
              <a:buSzPts val="1400"/>
              <a:buFont typeface="Calibri"/>
              <a:buNone/>
            </a:pPr>
            <a:r>
              <a:rPr b="1" i="0" lang="en-US" sz="2200" u="none" cap="none" strike="noStrike">
                <a:solidFill>
                  <a:srgbClr val="0A2E3B"/>
                </a:solidFill>
                <a:latin typeface="Calibri"/>
                <a:ea typeface="Calibri"/>
                <a:cs typeface="Calibri"/>
                <a:sym typeface="Calibri"/>
              </a:rPr>
              <a:t>Model 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1000"/>
              </a:spcBef>
              <a:spcAft>
                <a:spcPts val="0"/>
              </a:spcAft>
              <a:buClr>
                <a:srgbClr val="0A2E3B"/>
              </a:buClr>
              <a:buSzPts val="1400"/>
              <a:buFont typeface="Calibri"/>
              <a:buNone/>
            </a:pPr>
            <a:r>
              <a:rPr b="1" i="0" lang="en-US" sz="2200" u="none" cap="none" strike="noStrike">
                <a:solidFill>
                  <a:srgbClr val="0A2E3B"/>
                </a:solidFill>
                <a:latin typeface="Calibri"/>
                <a:ea typeface="Calibri"/>
                <a:cs typeface="Calibri"/>
                <a:sym typeface="Calibri"/>
              </a:rPr>
              <a:t>Compressor 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1000"/>
              </a:spcBef>
              <a:spcAft>
                <a:spcPts val="0"/>
              </a:spcAft>
              <a:buClr>
                <a:srgbClr val="0A2E3B"/>
              </a:buClr>
              <a:buSzPts val="1400"/>
              <a:buFont typeface="Calibri"/>
              <a:buNone/>
            </a:pPr>
            <a:r>
              <a:rPr b="1" i="0" lang="en-US" sz="2200" u="none" cap="none" strike="noStrike">
                <a:solidFill>
                  <a:srgbClr val="0A2E3B"/>
                </a:solidFill>
                <a:latin typeface="Calibri"/>
                <a:ea typeface="Calibri"/>
                <a:cs typeface="Calibri"/>
                <a:sym typeface="Calibri"/>
              </a:rPr>
              <a:t>Budget 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0"/>
          <p:cNvSpPr/>
          <p:nvPr/>
        </p:nvSpPr>
        <p:spPr>
          <a:xfrm>
            <a:off x="2606040" y="301752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85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6B7A85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0"/>
          <p:cNvSpPr/>
          <p:nvPr/>
        </p:nvSpPr>
        <p:spPr>
          <a:xfrm>
            <a:off x="3063240" y="1371600"/>
            <a:ext cx="2926080" cy="3657600"/>
          </a:xfrm>
          <a:prstGeom prst="roundRect">
            <a:avLst>
              <a:gd fmla="val 3125" name="adj"/>
            </a:avLst>
          </a:prstGeom>
          <a:solidFill>
            <a:srgbClr val="FFFDF5"/>
          </a:solidFill>
          <a:ln cap="flat" cmpd="sng" w="25400">
            <a:solidFill>
              <a:srgbClr val="2A7F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0"/>
          <p:cNvSpPr/>
          <p:nvPr/>
        </p:nvSpPr>
        <p:spPr>
          <a:xfrm>
            <a:off x="4069080" y="1645920"/>
            <a:ext cx="914400" cy="914400"/>
          </a:xfrm>
          <a:prstGeom prst="ellipse">
            <a:avLst/>
          </a:prstGeom>
          <a:solidFill>
            <a:srgbClr val="2A7FB8"/>
          </a:solidFill>
          <a:ln cap="flat" cmpd="sng" w="12700">
            <a:solidFill>
              <a:srgbClr val="2A7F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0"/>
          <p:cNvSpPr/>
          <p:nvPr/>
        </p:nvSpPr>
        <p:spPr>
          <a:xfrm>
            <a:off x="4069080" y="164592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DF5"/>
              </a:buClr>
              <a:buSzPts val="5200"/>
              <a:buFont typeface="Calibri"/>
              <a:buNone/>
            </a:pPr>
            <a:r>
              <a:rPr b="1" i="0" lang="en-US" sz="5200" u="none" cap="none" strike="noStrike">
                <a:solidFill>
                  <a:srgbClr val="FFFDF5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0"/>
          <p:cNvSpPr/>
          <p:nvPr/>
        </p:nvSpPr>
        <p:spPr>
          <a:xfrm>
            <a:off x="3063240" y="2743200"/>
            <a:ext cx="29260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E3B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A2E3B"/>
                </a:solidFill>
                <a:latin typeface="Calibri"/>
                <a:ea typeface="Calibri"/>
                <a:cs typeface="Calibri"/>
                <a:sym typeface="Calibri"/>
              </a:rPr>
              <a:t>Unconstrained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E3B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A2E3B"/>
                </a:solidFill>
                <a:latin typeface="Calibri"/>
                <a:ea typeface="Calibri"/>
                <a:cs typeface="Calibri"/>
                <a:sym typeface="Calibri"/>
              </a:rPr>
              <a:t>Compression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0"/>
          <p:cNvSpPr/>
          <p:nvPr/>
        </p:nvSpPr>
        <p:spPr>
          <a:xfrm>
            <a:off x="3063250" y="3611875"/>
            <a:ext cx="2926200" cy="132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C66"/>
              </a:buClr>
              <a:buSzPts val="1300"/>
              <a:buFont typeface="Calibri"/>
              <a:buNone/>
            </a:pPr>
            <a:r>
              <a:rPr lang="en-US" sz="2200">
                <a:solidFill>
                  <a:srgbClr val="4A5C66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0" lang="en-US" sz="2200" u="none" cap="none" strike="noStrike">
                <a:solidFill>
                  <a:srgbClr val="4A5C66"/>
                </a:solidFill>
                <a:latin typeface="Calibri"/>
                <a:ea typeface="Calibri"/>
                <a:cs typeface="Calibri"/>
                <a:sym typeface="Calibri"/>
              </a:rPr>
              <a:t>un  existing</a:t>
            </a:r>
            <a:r>
              <a:rPr lang="en-US" sz="2200">
                <a:solidFill>
                  <a:srgbClr val="4A5C66"/>
                </a:solidFill>
                <a:latin typeface="Calibri"/>
                <a:ea typeface="Calibri"/>
                <a:cs typeface="Calibri"/>
                <a:sym typeface="Calibri"/>
              </a:rPr>
              <a:t> compressor</a:t>
            </a:r>
            <a:r>
              <a:rPr b="0" lang="en-US" sz="2200" u="none" cap="none" strike="noStrike">
                <a:solidFill>
                  <a:srgbClr val="4A5C66"/>
                </a:solidFill>
                <a:latin typeface="Calibri"/>
                <a:ea typeface="Calibri"/>
                <a:cs typeface="Calibri"/>
                <a:sym typeface="Calibri"/>
              </a:rPr>
              <a:t>  as-is</a:t>
            </a:r>
            <a:endParaRPr b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0"/>
          <p:cNvSpPr/>
          <p:nvPr/>
        </p:nvSpPr>
        <p:spPr>
          <a:xfrm>
            <a:off x="6035040" y="1371600"/>
            <a:ext cx="2926080" cy="3657600"/>
          </a:xfrm>
          <a:prstGeom prst="roundRect">
            <a:avLst>
              <a:gd fmla="val 3125" name="adj"/>
            </a:avLst>
          </a:prstGeom>
          <a:solidFill>
            <a:srgbClr val="FFFDF5"/>
          </a:solidFill>
          <a:ln cap="flat" cmpd="sng" w="25400">
            <a:solidFill>
              <a:srgbClr val="CB62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0"/>
          <p:cNvSpPr/>
          <p:nvPr/>
        </p:nvSpPr>
        <p:spPr>
          <a:xfrm>
            <a:off x="7040880" y="1645920"/>
            <a:ext cx="914400" cy="914400"/>
          </a:xfrm>
          <a:prstGeom prst="ellipse">
            <a:avLst/>
          </a:prstGeom>
          <a:solidFill>
            <a:srgbClr val="CB6218"/>
          </a:solidFill>
          <a:ln cap="flat" cmpd="sng" w="12700">
            <a:solidFill>
              <a:srgbClr val="CB62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0"/>
          <p:cNvSpPr/>
          <p:nvPr/>
        </p:nvSpPr>
        <p:spPr>
          <a:xfrm>
            <a:off x="7040880" y="164592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DF5"/>
              </a:buClr>
              <a:buSzPts val="5200"/>
              <a:buFont typeface="Calibri"/>
              <a:buNone/>
            </a:pPr>
            <a:r>
              <a:rPr b="1" i="0" lang="en-US" sz="5200" u="none" cap="none" strike="noStrike">
                <a:solidFill>
                  <a:srgbClr val="FFFDF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0"/>
          <p:cNvSpPr/>
          <p:nvPr/>
        </p:nvSpPr>
        <p:spPr>
          <a:xfrm>
            <a:off x="6035040" y="2743200"/>
            <a:ext cx="29260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E3B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A2E3B"/>
                </a:solidFill>
                <a:latin typeface="Calibri"/>
                <a:ea typeface="Calibri"/>
                <a:cs typeface="Calibri"/>
                <a:sym typeface="Calibri"/>
              </a:rPr>
              <a:t>Dimension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E3B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A2E3B"/>
                </a:solidFill>
                <a:latin typeface="Calibri"/>
                <a:ea typeface="Calibri"/>
                <a:cs typeface="Calibri"/>
                <a:sym typeface="Calibri"/>
              </a:rPr>
              <a:t>Sweep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0"/>
          <p:cNvSpPr/>
          <p:nvPr/>
        </p:nvSpPr>
        <p:spPr>
          <a:xfrm>
            <a:off x="6035050" y="3611875"/>
            <a:ext cx="2926200" cy="132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C66"/>
              </a:buClr>
              <a:buSzPts val="1300"/>
              <a:buFont typeface="Calibri"/>
              <a:buNone/>
            </a:pPr>
            <a:r>
              <a:rPr lang="en-US" sz="2200">
                <a:solidFill>
                  <a:srgbClr val="4A5C66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0" lang="en-US" sz="2200" u="none" cap="none" strike="noStrike">
                <a:solidFill>
                  <a:srgbClr val="4A5C66"/>
                </a:solidFill>
                <a:latin typeface="Calibri"/>
                <a:ea typeface="Calibri"/>
                <a:cs typeface="Calibri"/>
                <a:sym typeface="Calibri"/>
              </a:rPr>
              <a:t>rofile </a:t>
            </a:r>
            <a:r>
              <a:rPr lang="en-US" sz="2200">
                <a:solidFill>
                  <a:srgbClr val="4A5C66"/>
                </a:solidFill>
                <a:latin typeface="Calibri"/>
                <a:ea typeface="Calibri"/>
                <a:cs typeface="Calibri"/>
                <a:sym typeface="Calibri"/>
              </a:rPr>
              <a:t>kernels</a:t>
            </a:r>
            <a:b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200">
                <a:solidFill>
                  <a:srgbClr val="4A5C66"/>
                </a:solidFill>
                <a:latin typeface="Calibri"/>
                <a:ea typeface="Calibri"/>
                <a:cs typeface="Calibri"/>
                <a:sym typeface="Calibri"/>
              </a:rPr>
              <a:t>Generate GPU-A</a:t>
            </a:r>
            <a:r>
              <a:rPr b="0" lang="en-US" sz="2200" u="none" cap="none" strike="noStrike">
                <a:solidFill>
                  <a:srgbClr val="4A5C66"/>
                </a:solidFill>
                <a:latin typeface="Calibri"/>
                <a:ea typeface="Calibri"/>
                <a:cs typeface="Calibri"/>
                <a:sym typeface="Calibri"/>
              </a:rPr>
              <a:t>ligned candidate</a:t>
            </a:r>
            <a:r>
              <a:rPr lang="en-US" sz="2200">
                <a:solidFill>
                  <a:srgbClr val="4A5C66"/>
                </a:solidFill>
                <a:latin typeface="Calibri"/>
                <a:ea typeface="Calibri"/>
                <a:cs typeface="Calibri"/>
                <a:sym typeface="Calibri"/>
              </a:rPr>
              <a:t> dims</a:t>
            </a:r>
            <a:endParaRPr b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0"/>
          <p:cNvSpPr/>
          <p:nvPr/>
        </p:nvSpPr>
        <p:spPr>
          <a:xfrm>
            <a:off x="9006840" y="1371600"/>
            <a:ext cx="2926080" cy="3657600"/>
          </a:xfrm>
          <a:prstGeom prst="roundRect">
            <a:avLst>
              <a:gd fmla="val 3125" name="adj"/>
            </a:avLst>
          </a:prstGeom>
          <a:solidFill>
            <a:srgbClr val="FFFDF5"/>
          </a:solidFill>
          <a:ln cap="flat" cmpd="sng" w="25400">
            <a:solidFill>
              <a:srgbClr val="7A9B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0"/>
          <p:cNvSpPr/>
          <p:nvPr/>
        </p:nvSpPr>
        <p:spPr>
          <a:xfrm>
            <a:off x="10012680" y="1645920"/>
            <a:ext cx="914400" cy="914400"/>
          </a:xfrm>
          <a:prstGeom prst="ellipse">
            <a:avLst/>
          </a:prstGeom>
          <a:solidFill>
            <a:srgbClr val="7A9B1B"/>
          </a:solidFill>
          <a:ln cap="flat" cmpd="sng" w="12700">
            <a:solidFill>
              <a:srgbClr val="7A9B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0"/>
          <p:cNvSpPr/>
          <p:nvPr/>
        </p:nvSpPr>
        <p:spPr>
          <a:xfrm>
            <a:off x="10012680" y="164592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DF5"/>
              </a:buClr>
              <a:buSzPts val="5200"/>
              <a:buFont typeface="Calibri"/>
              <a:buNone/>
            </a:pPr>
            <a:r>
              <a:rPr b="1" i="0" lang="en-US" sz="5200" u="none" cap="none" strike="noStrike">
                <a:solidFill>
                  <a:srgbClr val="FFFDF5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0"/>
          <p:cNvSpPr/>
          <p:nvPr/>
        </p:nvSpPr>
        <p:spPr>
          <a:xfrm>
            <a:off x="9006840" y="2743200"/>
            <a:ext cx="29260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E3B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0A2E3B"/>
                </a:solidFill>
                <a:latin typeface="Calibri"/>
                <a:ea typeface="Calibri"/>
                <a:cs typeface="Calibri"/>
                <a:sym typeface="Calibri"/>
              </a:rPr>
              <a:t>Dimension Alignment</a:t>
            </a:r>
            <a:br>
              <a:rPr b="1" lang="en-US" sz="1800">
                <a:solidFill>
                  <a:srgbClr val="0A2E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800">
                <a:solidFill>
                  <a:srgbClr val="0A2E3B"/>
                </a:solidFill>
                <a:latin typeface="Calibri"/>
                <a:ea typeface="Calibri"/>
                <a:cs typeface="Calibri"/>
                <a:sym typeface="Calibri"/>
              </a:rPr>
              <a:t>Adjustment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9144000" y="3611880"/>
            <a:ext cx="265176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C66"/>
              </a:buClr>
              <a:buSzPts val="1300"/>
              <a:buFont typeface="Calibri"/>
              <a:buNone/>
            </a:pPr>
            <a:r>
              <a:rPr lang="en-US" sz="2200">
                <a:solidFill>
                  <a:srgbClr val="4A5C66"/>
                </a:solidFill>
                <a:latin typeface="Calibri"/>
                <a:ea typeface="Calibri"/>
                <a:cs typeface="Calibri"/>
                <a:sym typeface="Calibri"/>
              </a:rPr>
              <a:t>Constrained Optimization</a:t>
            </a:r>
            <a:endParaRPr b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400"/>
              </a:spcBef>
              <a:spcAft>
                <a:spcPts val="0"/>
              </a:spcAft>
              <a:buClr>
                <a:srgbClr val="4A5C66"/>
              </a:buClr>
              <a:buSzPts val="1300"/>
              <a:buFont typeface="Calibri"/>
              <a:buNone/>
            </a:pPr>
            <a:r>
              <a:rPr lang="en-US" sz="2200">
                <a:solidFill>
                  <a:srgbClr val="4A5C66"/>
                </a:solidFill>
                <a:latin typeface="Calibri"/>
                <a:ea typeface="Calibri"/>
                <a:cs typeface="Calibri"/>
                <a:sym typeface="Calibri"/>
              </a:rPr>
              <a:t>DP Solver</a:t>
            </a:r>
            <a:endParaRPr b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0"/>
          <p:cNvSpPr/>
          <p:nvPr/>
        </p:nvSpPr>
        <p:spPr>
          <a:xfrm>
            <a:off x="5824728" y="3017520"/>
            <a:ext cx="320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85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6B7A85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8796528" y="3017520"/>
            <a:ext cx="320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85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6B7A85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0"/>
          <p:cNvSpPr/>
          <p:nvPr/>
        </p:nvSpPr>
        <p:spPr>
          <a:xfrm>
            <a:off x="502920" y="5303520"/>
            <a:ext cx="11247120" cy="777240"/>
          </a:xfrm>
          <a:prstGeom prst="roundRect">
            <a:avLst>
              <a:gd fmla="val 9412" name="adj"/>
            </a:avLst>
          </a:prstGeom>
          <a:solidFill>
            <a:srgbClr val="ECF1D5"/>
          </a:solidFill>
          <a:ln cap="flat" cmpd="sng" w="12700">
            <a:solidFill>
              <a:srgbClr val="7A9B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0"/>
          <p:cNvSpPr/>
          <p:nvPr/>
        </p:nvSpPr>
        <p:spPr>
          <a:xfrm>
            <a:off x="685800" y="5422392"/>
            <a:ext cx="502920" cy="502920"/>
          </a:xfrm>
          <a:prstGeom prst="ellipse">
            <a:avLst/>
          </a:prstGeom>
          <a:solidFill>
            <a:srgbClr val="7A9B1B"/>
          </a:solidFill>
          <a:ln cap="flat" cmpd="sng" w="12700">
            <a:solidFill>
              <a:srgbClr val="7A9B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0"/>
          <p:cNvSpPr/>
          <p:nvPr/>
        </p:nvSpPr>
        <p:spPr>
          <a:xfrm>
            <a:off x="685800" y="542239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DF5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DF5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1280160" y="5303520"/>
            <a:ext cx="103327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B1B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7A9B1B"/>
                </a:solidFill>
                <a:latin typeface="Calibri"/>
                <a:ea typeface="Calibri"/>
                <a:cs typeface="Calibri"/>
                <a:sym typeface="Calibri"/>
              </a:rPr>
              <a:t>Output: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100%-aligned model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with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guaranteed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speedup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0"/>
          <p:cNvSpPr/>
          <p:nvPr/>
        </p:nvSpPr>
        <p:spPr>
          <a:xfrm>
            <a:off x="502920" y="6217920"/>
            <a:ext cx="11247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85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B7A85"/>
                </a:solidFill>
                <a:latin typeface="Calibri"/>
                <a:ea typeface="Calibri"/>
                <a:cs typeface="Calibri"/>
                <a:sym typeface="Calibri"/>
              </a:rPr>
              <a:t>one module, drop-in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0"/>
          <p:cNvSpPr txBox="1"/>
          <p:nvPr>
            <p:ph idx="4294967295" type="sldNum"/>
          </p:nvPr>
        </p:nvSpPr>
        <p:spPr>
          <a:xfrm>
            <a:off x="11750040" y="6565392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A8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B7A8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1"/>
          <p:cNvSpPr/>
          <p:nvPr/>
        </p:nvSpPr>
        <p:spPr>
          <a:xfrm>
            <a:off x="502920" y="950976"/>
            <a:ext cx="411480" cy="36576"/>
          </a:xfrm>
          <a:prstGeom prst="rect">
            <a:avLst/>
          </a:prstGeom>
          <a:solidFill>
            <a:srgbClr val="2A7FB8"/>
          </a:solidFill>
          <a:ln cap="flat" cmpd="sng" w="12700">
            <a:solidFill>
              <a:srgbClr val="2A7F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1"/>
          <p:cNvSpPr/>
          <p:nvPr/>
        </p:nvSpPr>
        <p:spPr>
          <a:xfrm>
            <a:off x="342900" y="1521425"/>
            <a:ext cx="6035100" cy="4117800"/>
          </a:xfrm>
          <a:prstGeom prst="roundRect">
            <a:avLst>
              <a:gd fmla="val 5333" name="adj"/>
            </a:avLst>
          </a:prstGeom>
          <a:solidFill>
            <a:srgbClr val="DCECF5"/>
          </a:solidFill>
          <a:ln cap="flat" cmpd="sng" w="12700">
            <a:solidFill>
              <a:srgbClr val="2A7F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1"/>
          <p:cNvSpPr/>
          <p:nvPr/>
        </p:nvSpPr>
        <p:spPr>
          <a:xfrm>
            <a:off x="525775" y="1658590"/>
            <a:ext cx="5669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7FB8"/>
              </a:buClr>
              <a:buSzPts val="1500"/>
              <a:buFont typeface="Calibri"/>
              <a:buNone/>
            </a:pPr>
            <a:r>
              <a:rPr b="1" lang="en-US" sz="2600">
                <a:solidFill>
                  <a:srgbClr val="2A7FB8"/>
                </a:solidFill>
                <a:latin typeface="Calibri"/>
                <a:ea typeface="Calibri"/>
                <a:cs typeface="Calibri"/>
                <a:sym typeface="Calibri"/>
              </a:rPr>
              <a:t>Constrained Optimization</a:t>
            </a:r>
            <a:endParaRPr b="1" sz="2600">
              <a:solidFill>
                <a:srgbClr val="2A7FB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1"/>
          <p:cNvSpPr/>
          <p:nvPr/>
        </p:nvSpPr>
        <p:spPr>
          <a:xfrm>
            <a:off x="525750" y="2122825"/>
            <a:ext cx="5669400" cy="31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A5C66"/>
              </a:buClr>
              <a:buSzPts val="1400"/>
              <a:buFont typeface="Calibri"/>
              <a:buNone/>
            </a:pPr>
            <a:r>
              <a:rPr b="1" lang="en-US" sz="2200">
                <a:solidFill>
                  <a:srgbClr val="0A2E3B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r>
              <a:rPr lang="en-US" sz="2200">
                <a:solidFill>
                  <a:srgbClr val="4A5C66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2200">
              <a:solidFill>
                <a:srgbClr val="4A5C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4A5C66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rgbClr val="4A5C66"/>
                </a:solidFill>
                <a:latin typeface="Calibri"/>
                <a:ea typeface="Calibri"/>
                <a:cs typeface="Calibri"/>
                <a:sym typeface="Calibri"/>
              </a:rPr>
              <a:t>LLM Weights {w}</a:t>
            </a:r>
            <a:endParaRPr sz="2200">
              <a:solidFill>
                <a:srgbClr val="4A5C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4A5C66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rgbClr val="4A5C66"/>
                </a:solidFill>
                <a:latin typeface="Calibri"/>
                <a:ea typeface="Calibri"/>
                <a:cs typeface="Calibri"/>
                <a:sym typeface="Calibri"/>
              </a:rPr>
              <a:t>Each weight has an importance score</a:t>
            </a:r>
            <a:endParaRPr sz="2200">
              <a:solidFill>
                <a:srgbClr val="4A5C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4A5C66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rgbClr val="4A5C66"/>
                </a:solidFill>
                <a:latin typeface="Calibri"/>
                <a:ea typeface="Calibri"/>
                <a:cs typeface="Calibri"/>
                <a:sym typeface="Calibri"/>
              </a:rPr>
              <a:t>Each weight has a candidate dim set {c}</a:t>
            </a:r>
            <a:endParaRPr sz="2200">
              <a:solidFill>
                <a:srgbClr val="4A5C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4A5C66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rgbClr val="4A5C66"/>
                </a:solidFill>
                <a:latin typeface="Calibri"/>
                <a:ea typeface="Calibri"/>
                <a:cs typeface="Calibri"/>
                <a:sym typeface="Calibri"/>
              </a:rPr>
              <a:t>Total Budget</a:t>
            </a:r>
            <a:endParaRPr sz="2200">
              <a:solidFill>
                <a:srgbClr val="4A5C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A5C66"/>
              </a:buClr>
              <a:buSzPts val="1400"/>
              <a:buFont typeface="Calibri"/>
              <a:buNone/>
            </a:pP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Target:</a:t>
            </a:r>
            <a:r>
              <a:rPr lang="en-US" sz="2200">
                <a:solidFill>
                  <a:srgbClr val="4A5C66"/>
                </a:solidFill>
                <a:latin typeface="Calibri"/>
                <a:ea typeface="Calibri"/>
                <a:cs typeface="Calibri"/>
                <a:sym typeface="Calibri"/>
              </a:rPr>
              <a:t> Maximize total importance score</a:t>
            </a:r>
            <a:endParaRPr sz="2200">
              <a:solidFill>
                <a:srgbClr val="4A5C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C66"/>
              </a:buClr>
              <a:buSzPts val="1400"/>
              <a:buFont typeface="Calibri"/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Constraint:</a:t>
            </a:r>
            <a:endParaRPr b="1"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marR="0" rtl="0" algn="l">
              <a:spcBef>
                <a:spcPts val="0"/>
              </a:spcBef>
              <a:spcAft>
                <a:spcPts val="0"/>
              </a:spcAft>
              <a:buSzPts val="2200"/>
              <a:buFont typeface="Calibri"/>
              <a:buChar char="●"/>
            </a:pPr>
            <a:r>
              <a:rPr lang="en-US" sz="2200">
                <a:solidFill>
                  <a:srgbClr val="4A5C66"/>
                </a:solidFill>
                <a:latin typeface="Calibri"/>
                <a:ea typeface="Calibri"/>
                <a:cs typeface="Calibri"/>
                <a:sym typeface="Calibri"/>
              </a:rPr>
              <a:t>total params  ≤  budget</a:t>
            </a:r>
            <a:endParaRPr sz="2200">
              <a:solidFill>
                <a:srgbClr val="4A5C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marR="0" rtl="0" algn="l">
              <a:spcBef>
                <a:spcPts val="0"/>
              </a:spcBef>
              <a:spcAft>
                <a:spcPts val="0"/>
              </a:spcAft>
              <a:buSzPts val="2200"/>
              <a:buFont typeface="Calibri"/>
              <a:buChar char="●"/>
            </a:pPr>
            <a:r>
              <a:rPr lang="en-US" sz="2200">
                <a:solidFill>
                  <a:srgbClr val="4A5C66"/>
                </a:solidFill>
                <a:latin typeface="Calibri"/>
                <a:ea typeface="Calibri"/>
                <a:cs typeface="Calibri"/>
                <a:sym typeface="Calibri"/>
              </a:rPr>
              <a:t>only choose from candidate set</a:t>
            </a:r>
            <a:br>
              <a:rPr lang="en-US" sz="2200">
                <a:solidFill>
                  <a:srgbClr val="4A5C6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2200">
                <a:solidFill>
                  <a:srgbClr val="0A2E3B"/>
                </a:solidFill>
                <a:latin typeface="Calibri"/>
                <a:ea typeface="Calibri"/>
                <a:cs typeface="Calibri"/>
                <a:sym typeface="Calibri"/>
              </a:rPr>
              <a:t>💡</a:t>
            </a:r>
            <a:r>
              <a:rPr b="1" lang="en-US" sz="2200">
                <a:solidFill>
                  <a:srgbClr val="2A7FB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i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Multi-Choice Knapsack – DP Solver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1"/>
          <p:cNvSpPr/>
          <p:nvPr/>
        </p:nvSpPr>
        <p:spPr>
          <a:xfrm>
            <a:off x="525770" y="5662175"/>
            <a:ext cx="20118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9B1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7A9B1B"/>
                </a:solidFill>
                <a:latin typeface="Calibri"/>
                <a:ea typeface="Calibri"/>
                <a:cs typeface="Calibri"/>
                <a:sym typeface="Calibri"/>
              </a:rPr>
              <a:t>&lt; 1 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1"/>
          <p:cNvSpPr/>
          <p:nvPr/>
        </p:nvSpPr>
        <p:spPr>
          <a:xfrm>
            <a:off x="2401641" y="5639225"/>
            <a:ext cx="2746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7FB8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2A7FB8"/>
                </a:solidFill>
                <a:latin typeface="Calibri"/>
                <a:ea typeface="Calibri"/>
                <a:cs typeface="Calibri"/>
                <a:sym typeface="Calibri"/>
              </a:rPr>
              <a:t>One-off 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1"/>
          <p:cNvSpPr txBox="1"/>
          <p:nvPr>
            <p:ph idx="4294967295" type="sldNum"/>
          </p:nvPr>
        </p:nvSpPr>
        <p:spPr>
          <a:xfrm>
            <a:off x="11750040" y="6565392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A8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B7A8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3" name="Google Shape;223;p11"/>
          <p:cNvGrpSpPr/>
          <p:nvPr/>
        </p:nvGrpSpPr>
        <p:grpSpPr>
          <a:xfrm>
            <a:off x="6703710" y="1410155"/>
            <a:ext cx="5111235" cy="4846320"/>
            <a:chOff x="502935" y="1384505"/>
            <a:chExt cx="5111235" cy="4846320"/>
          </a:xfrm>
        </p:grpSpPr>
        <p:grpSp>
          <p:nvGrpSpPr>
            <p:cNvPr id="224" name="Google Shape;224;p11"/>
            <p:cNvGrpSpPr/>
            <p:nvPr/>
          </p:nvGrpSpPr>
          <p:grpSpPr>
            <a:xfrm>
              <a:off x="502935" y="1384505"/>
              <a:ext cx="4983480" cy="4846320"/>
              <a:chOff x="6766560" y="1325880"/>
              <a:chExt cx="4983480" cy="4846320"/>
            </a:xfrm>
          </p:grpSpPr>
          <p:sp>
            <p:nvSpPr>
              <p:cNvPr id="225" name="Google Shape;225;p11"/>
              <p:cNvSpPr/>
              <p:nvPr/>
            </p:nvSpPr>
            <p:spPr>
              <a:xfrm>
                <a:off x="6766560" y="1325880"/>
                <a:ext cx="4983480" cy="4846320"/>
              </a:xfrm>
              <a:prstGeom prst="roundRect">
                <a:avLst>
                  <a:gd fmla="val 1887" name="adj"/>
                </a:avLst>
              </a:prstGeom>
              <a:solidFill>
                <a:srgbClr val="FFFDF5"/>
              </a:solidFill>
              <a:ln cap="flat" cmpd="sng" w="9525">
                <a:solidFill>
                  <a:srgbClr val="E6DCC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>
                <a:off x="6766560" y="1463040"/>
                <a:ext cx="498348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CB6218"/>
                  </a:buClr>
                  <a:buSzPts val="1300"/>
                  <a:buFont typeface="Calibri"/>
                  <a:buNone/>
                </a:pPr>
                <a:r>
                  <a:rPr b="1" i="0" lang="en-US" sz="2200" u="none" cap="none" strike="noStrike">
                    <a:solidFill>
                      <a:srgbClr val="CB6218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Example</a:t>
                </a:r>
                <a:r>
                  <a:rPr b="1" lang="en-US" sz="2200">
                    <a:solidFill>
                      <a:srgbClr val="CB6218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of </a:t>
                </a:r>
                <a:r>
                  <a:rPr b="1" lang="en-US" sz="2200">
                    <a:solidFill>
                      <a:srgbClr val="CB6218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one</a:t>
                </a:r>
                <a:r>
                  <a:rPr b="1" lang="en-US" sz="2200">
                    <a:solidFill>
                      <a:srgbClr val="CB6218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weight</a:t>
                </a:r>
                <a:endParaRPr b="0" i="0" sz="22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27" name="Google Shape;227;p11"/>
              <p:cNvCxnSpPr/>
              <p:nvPr/>
            </p:nvCxnSpPr>
            <p:spPr>
              <a:xfrm>
                <a:off x="7040880" y="3291840"/>
                <a:ext cx="443484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6B7A8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28" name="Google Shape;228;p11"/>
              <p:cNvSpPr/>
              <p:nvPr/>
            </p:nvSpPr>
            <p:spPr>
              <a:xfrm>
                <a:off x="7068312" y="3182112"/>
                <a:ext cx="219456" cy="219456"/>
              </a:xfrm>
              <a:prstGeom prst="ellipse">
                <a:avLst/>
              </a:prstGeom>
              <a:solidFill>
                <a:srgbClr val="7A9B1B"/>
              </a:solidFill>
              <a:ln cap="flat" cmpd="sng" w="12700">
                <a:solidFill>
                  <a:srgbClr val="7A9B1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" name="Google Shape;229;p11"/>
              <p:cNvSpPr/>
              <p:nvPr/>
            </p:nvSpPr>
            <p:spPr>
              <a:xfrm>
                <a:off x="6812280" y="2697480"/>
                <a:ext cx="731520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7A9B1B"/>
                  </a:buClr>
                  <a:buSzPts val="1400"/>
                  <a:buFont typeface="Calibri"/>
                  <a:buNone/>
                </a:pPr>
                <a:r>
                  <a:rPr b="1" i="0" lang="en-US" sz="2200" u="none" cap="none" strike="noStrike">
                    <a:solidFill>
                      <a:srgbClr val="7A9B1B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96</a:t>
                </a:r>
                <a:endParaRPr b="0" i="0" sz="22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>
                <a:off x="7891272" y="3182112"/>
                <a:ext cx="219456" cy="219456"/>
              </a:xfrm>
              <a:prstGeom prst="ellipse">
                <a:avLst/>
              </a:prstGeom>
              <a:solidFill>
                <a:srgbClr val="7A9B1B"/>
              </a:solidFill>
              <a:ln cap="flat" cmpd="sng" w="12700">
                <a:solidFill>
                  <a:srgbClr val="7A9B1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>
                <a:off x="7635240" y="2697480"/>
                <a:ext cx="731520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7A9B1B"/>
                  </a:buClr>
                  <a:buSzPts val="1400"/>
                  <a:buFont typeface="Calibri"/>
                  <a:buNone/>
                </a:pPr>
                <a:r>
                  <a:rPr b="1" i="0" lang="en-US" sz="2200" u="none" cap="none" strike="noStrike">
                    <a:solidFill>
                      <a:srgbClr val="7A9B1B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104</a:t>
                </a:r>
                <a:endParaRPr b="0" i="0" sz="22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>
                <a:off x="8787384" y="3163824"/>
                <a:ext cx="256032" cy="256032"/>
              </a:xfrm>
              <a:prstGeom prst="ellipse">
                <a:avLst/>
              </a:prstGeom>
              <a:solidFill>
                <a:srgbClr val="FFFDF5"/>
              </a:solidFill>
              <a:ln cap="flat" cmpd="sng" w="25400">
                <a:solidFill>
                  <a:srgbClr val="D23B2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>
                <a:off x="8787384" y="3136392"/>
                <a:ext cx="256032" cy="3108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D23B2E"/>
                  </a:buClr>
                  <a:buSzPts val="1500"/>
                  <a:buFont typeface="Calibri"/>
                  <a:buNone/>
                </a:pPr>
                <a:r>
                  <a:rPr b="1" i="0" lang="en-US" sz="1500" u="none" cap="none" strike="noStrike">
                    <a:solidFill>
                      <a:srgbClr val="D23B2E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✕</a:t>
                </a:r>
                <a:endParaRPr b="0" i="0" sz="15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" name="Google Shape;234;p11"/>
              <p:cNvSpPr/>
              <p:nvPr/>
            </p:nvSpPr>
            <p:spPr>
              <a:xfrm>
                <a:off x="8549640" y="2697480"/>
                <a:ext cx="731520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D23B2E"/>
                  </a:buClr>
                  <a:buSzPts val="1400"/>
                  <a:buFont typeface="Calibri"/>
                  <a:buNone/>
                </a:pPr>
                <a:r>
                  <a:rPr b="1" i="0" lang="en-US" sz="2200" u="none" cap="none" strike="noStrike">
                    <a:solidFill>
                      <a:srgbClr val="D23B2E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107</a:t>
                </a:r>
                <a:endParaRPr b="0" i="0" sz="22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" name="Google Shape;235;p11"/>
              <p:cNvSpPr/>
              <p:nvPr/>
            </p:nvSpPr>
            <p:spPr>
              <a:xfrm>
                <a:off x="10085832" y="3182112"/>
                <a:ext cx="219456" cy="219456"/>
              </a:xfrm>
              <a:prstGeom prst="ellipse">
                <a:avLst/>
              </a:prstGeom>
              <a:solidFill>
                <a:srgbClr val="7A9B1B"/>
              </a:solidFill>
              <a:ln cap="flat" cmpd="sng" w="12700">
                <a:solidFill>
                  <a:srgbClr val="7A9B1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>
                <a:off x="9829800" y="2697480"/>
                <a:ext cx="731520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7A9B1B"/>
                  </a:buClr>
                  <a:buSzPts val="1400"/>
                  <a:buFont typeface="Calibri"/>
                  <a:buNone/>
                </a:pPr>
                <a:r>
                  <a:rPr b="1" i="0" lang="en-US" sz="2200" u="none" cap="none" strike="noStrike">
                    <a:solidFill>
                      <a:srgbClr val="7A9B1B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112</a:t>
                </a:r>
                <a:endParaRPr b="0" i="0" sz="22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>
                <a:off x="8110725" y="3589085"/>
                <a:ext cx="1828800" cy="274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CB6218"/>
                  </a:buClr>
                  <a:buSzPts val="1300"/>
                  <a:buFont typeface="Calibri"/>
                  <a:buNone/>
                </a:pPr>
                <a:r>
                  <a:rPr b="1" i="1" lang="en-US" sz="2200" u="none" cap="none" strike="noStrike">
                    <a:solidFill>
                      <a:srgbClr val="CB6218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d* = 107 (original)</a:t>
                </a:r>
                <a:endParaRPr b="0" i="0" sz="22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>
                <a:off x="6995160" y="4434840"/>
                <a:ext cx="4526280" cy="777240"/>
              </a:xfrm>
              <a:prstGeom prst="roundRect">
                <a:avLst>
                  <a:gd fmla="val 7059" name="adj"/>
                </a:avLst>
              </a:prstGeom>
              <a:solidFill>
                <a:srgbClr val="FCEADB"/>
              </a:solidFill>
              <a:ln cap="flat" cmpd="sng" w="12700">
                <a:solidFill>
                  <a:srgbClr val="D23B2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" name="Google Shape;239;p11"/>
              <p:cNvSpPr/>
              <p:nvPr/>
            </p:nvSpPr>
            <p:spPr>
              <a:xfrm>
                <a:off x="7132320" y="4544568"/>
                <a:ext cx="457200" cy="457200"/>
              </a:xfrm>
              <a:prstGeom prst="ellipse">
                <a:avLst/>
              </a:prstGeom>
              <a:solidFill>
                <a:srgbClr val="D23B2E"/>
              </a:solidFill>
              <a:ln cap="flat" cmpd="sng" w="12700">
                <a:solidFill>
                  <a:srgbClr val="D23B2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" name="Google Shape;240;p11"/>
              <p:cNvSpPr/>
              <p:nvPr/>
            </p:nvSpPr>
            <p:spPr>
              <a:xfrm>
                <a:off x="7132320" y="454456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FFFDF5"/>
                  </a:buClr>
                  <a:buSzPts val="2500"/>
                  <a:buFont typeface="Calibri"/>
                  <a:buNone/>
                </a:pPr>
                <a:r>
                  <a:rPr b="1" i="0" lang="en-US" sz="2500" u="none" cap="none" strike="noStrike">
                    <a:solidFill>
                      <a:srgbClr val="FFFDF5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✕</a:t>
                </a:r>
                <a:endParaRPr b="0" i="0" sz="25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>
                <a:off x="7680960" y="4434840"/>
                <a:ext cx="3749040" cy="7772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A2E3B"/>
                  </a:buClr>
                  <a:buSzPts val="1400"/>
                  <a:buFont typeface="Calibri"/>
                  <a:buNone/>
                </a:pPr>
                <a:r>
                  <a:rPr b="1" i="0" lang="en-US" sz="1400" u="none" cap="none" strike="noStrike">
                    <a:solidFill>
                      <a:srgbClr val="0A2E3B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107  not aligned  →  excluded</a:t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>
                <a:off x="6995160" y="5349240"/>
                <a:ext cx="4526280" cy="777240"/>
              </a:xfrm>
              <a:prstGeom prst="roundRect">
                <a:avLst>
                  <a:gd fmla="val 7059" name="adj"/>
                </a:avLst>
              </a:prstGeom>
              <a:solidFill>
                <a:srgbClr val="ECF1D5"/>
              </a:solidFill>
              <a:ln cap="flat" cmpd="sng" w="12700">
                <a:solidFill>
                  <a:srgbClr val="7A9B1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" name="Google Shape;243;p11"/>
              <p:cNvSpPr/>
              <p:nvPr/>
            </p:nvSpPr>
            <p:spPr>
              <a:xfrm>
                <a:off x="7132320" y="5458968"/>
                <a:ext cx="457200" cy="457200"/>
              </a:xfrm>
              <a:prstGeom prst="ellipse">
                <a:avLst/>
              </a:prstGeom>
              <a:solidFill>
                <a:srgbClr val="7A9B1B"/>
              </a:solidFill>
              <a:ln cap="flat" cmpd="sng" w="12700">
                <a:solidFill>
                  <a:srgbClr val="7A9B1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" name="Google Shape;244;p11"/>
              <p:cNvSpPr/>
              <p:nvPr/>
            </p:nvSpPr>
            <p:spPr>
              <a:xfrm>
                <a:off x="7132320" y="545896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FFFDF5"/>
                  </a:buClr>
                  <a:buSzPts val="2800"/>
                  <a:buFont typeface="Calibri"/>
                  <a:buNone/>
                </a:pPr>
                <a:r>
                  <a:rPr b="1" i="0" lang="en-US" sz="2800" u="none" cap="none" strike="noStrike">
                    <a:solidFill>
                      <a:srgbClr val="FFFDF5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✓</a:t>
                </a:r>
                <a:endParaRPr b="0" i="0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>
                <a:off x="7680960" y="5349240"/>
                <a:ext cx="3749040" cy="7772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7A9B1B"/>
                  </a:buClr>
                  <a:buSzPts val="1500"/>
                  <a:buFont typeface="Calibri"/>
                  <a:buNone/>
                </a:pPr>
                <a:r>
                  <a:rPr b="1" i="0" lang="en-US" sz="1500" u="none" cap="none" strike="noStrike">
                    <a:solidFill>
                      <a:srgbClr val="7A9B1B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Cᵢ = {96, 104, 112, 128}</a:t>
                </a:r>
                <a:endParaRPr b="0" i="0" sz="15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6" name="Google Shape;246;p11"/>
            <p:cNvGrpSpPr/>
            <p:nvPr/>
          </p:nvGrpSpPr>
          <p:grpSpPr>
            <a:xfrm>
              <a:off x="4882650" y="2754506"/>
              <a:ext cx="731520" cy="704232"/>
              <a:chOff x="10744200" y="2697480"/>
              <a:chExt cx="731520" cy="704232"/>
            </a:xfrm>
          </p:grpSpPr>
          <p:sp>
            <p:nvSpPr>
              <p:cNvPr id="247" name="Google Shape;247;p11"/>
              <p:cNvSpPr/>
              <p:nvPr/>
            </p:nvSpPr>
            <p:spPr>
              <a:xfrm>
                <a:off x="11000232" y="3182112"/>
                <a:ext cx="219600" cy="219600"/>
              </a:xfrm>
              <a:prstGeom prst="ellipse">
                <a:avLst/>
              </a:prstGeom>
              <a:solidFill>
                <a:srgbClr val="7A9B1B"/>
              </a:solidFill>
              <a:ln cap="flat" cmpd="sng" w="12700">
                <a:solidFill>
                  <a:srgbClr val="7A9B1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>
                <a:off x="10744200" y="2697480"/>
                <a:ext cx="731520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7A9B1B"/>
                  </a:buClr>
                  <a:buSzPts val="1400"/>
                  <a:buFont typeface="Calibri"/>
                  <a:buNone/>
                </a:pPr>
                <a:r>
                  <a:rPr b="1" i="0" lang="en-US" sz="2200" u="none" cap="none" strike="noStrike">
                    <a:solidFill>
                      <a:srgbClr val="7A9B1B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128</a:t>
                </a:r>
                <a:endParaRPr b="0" i="0" sz="22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49" name="Google Shape;249;p11"/>
          <p:cNvSpPr/>
          <p:nvPr/>
        </p:nvSpPr>
        <p:spPr>
          <a:xfrm>
            <a:off x="472495" y="128157"/>
            <a:ext cx="11247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E3B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Step 3: 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Dimension Alignment Adjustment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2"/>
          <p:cNvSpPr/>
          <p:nvPr/>
        </p:nvSpPr>
        <p:spPr>
          <a:xfrm>
            <a:off x="502920" y="27432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E3B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0A2E3B"/>
                </a:solidFill>
                <a:latin typeface="Calibri"/>
                <a:ea typeface="Calibri"/>
                <a:cs typeface="Calibri"/>
                <a:sym typeface="Calibri"/>
              </a:rPr>
              <a:t>Preliminary Evaluation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2"/>
          <p:cNvSpPr/>
          <p:nvPr/>
        </p:nvSpPr>
        <p:spPr>
          <a:xfrm>
            <a:off x="502920" y="950976"/>
            <a:ext cx="411480" cy="36576"/>
          </a:xfrm>
          <a:prstGeom prst="rect">
            <a:avLst/>
          </a:prstGeom>
          <a:solidFill>
            <a:srgbClr val="2A7FB8"/>
          </a:solidFill>
          <a:ln cap="flat" cmpd="sng" w="12700">
            <a:solidFill>
              <a:srgbClr val="2A7F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2"/>
          <p:cNvSpPr/>
          <p:nvPr/>
        </p:nvSpPr>
        <p:spPr>
          <a:xfrm>
            <a:off x="502920" y="1234440"/>
            <a:ext cx="3520440" cy="1188720"/>
          </a:xfrm>
          <a:prstGeom prst="roundRect">
            <a:avLst>
              <a:gd fmla="val 7692" name="adj"/>
            </a:avLst>
          </a:prstGeom>
          <a:solidFill>
            <a:srgbClr val="FFFDF5"/>
          </a:solidFill>
          <a:ln cap="flat" cmpd="sng" w="19050">
            <a:solidFill>
              <a:srgbClr val="7A9B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2"/>
          <p:cNvSpPr/>
          <p:nvPr/>
        </p:nvSpPr>
        <p:spPr>
          <a:xfrm>
            <a:off x="640080" y="1280160"/>
            <a:ext cx="32461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9B1B"/>
              </a:buClr>
              <a:buSzPts val="4600"/>
              <a:buFont typeface="Calibri"/>
              <a:buNone/>
            </a:pPr>
            <a:r>
              <a:rPr i="1" lang="en-US" sz="1600">
                <a:solidFill>
                  <a:srgbClr val="4A5C66"/>
                </a:solidFill>
                <a:latin typeface="Calibri"/>
                <a:ea typeface="Calibri"/>
                <a:cs typeface="Calibri"/>
                <a:sym typeface="Calibri"/>
              </a:rPr>
              <a:t>Up to</a:t>
            </a:r>
            <a:r>
              <a:rPr b="1" i="0" lang="en-US" sz="4600" u="none" cap="none" strike="noStrike">
                <a:solidFill>
                  <a:srgbClr val="7A9B1B"/>
                </a:solidFill>
                <a:latin typeface="Calibri"/>
                <a:ea typeface="Calibri"/>
                <a:cs typeface="Calibri"/>
                <a:sym typeface="Calibri"/>
              </a:rPr>
              <a:t>1.5×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2"/>
          <p:cNvSpPr/>
          <p:nvPr/>
        </p:nvSpPr>
        <p:spPr>
          <a:xfrm>
            <a:off x="640080" y="2011680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C66"/>
              </a:buClr>
              <a:buSzPts val="1100"/>
              <a:buFont typeface="Calibri"/>
              <a:buNone/>
            </a:pPr>
            <a:r>
              <a:rPr b="0" i="1" lang="en-US" sz="1600" u="none" cap="none" strike="noStrike">
                <a:solidFill>
                  <a:srgbClr val="4A5C66"/>
                </a:solidFill>
                <a:latin typeface="Calibri"/>
                <a:ea typeface="Calibri"/>
                <a:cs typeface="Calibri"/>
                <a:sym typeface="Calibri"/>
              </a:rPr>
              <a:t>prefill speedup 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2"/>
          <p:cNvSpPr/>
          <p:nvPr/>
        </p:nvSpPr>
        <p:spPr>
          <a:xfrm>
            <a:off x="4343400" y="1234440"/>
            <a:ext cx="3520440" cy="1188720"/>
          </a:xfrm>
          <a:prstGeom prst="roundRect">
            <a:avLst>
              <a:gd fmla="val 7692" name="adj"/>
            </a:avLst>
          </a:prstGeom>
          <a:solidFill>
            <a:srgbClr val="FFFDF5"/>
          </a:solidFill>
          <a:ln cap="flat" cmpd="sng" w="19050">
            <a:solidFill>
              <a:srgbClr val="2A7F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2"/>
          <p:cNvSpPr/>
          <p:nvPr/>
        </p:nvSpPr>
        <p:spPr>
          <a:xfrm>
            <a:off x="4480560" y="1280160"/>
            <a:ext cx="32461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7FB8"/>
              </a:buClr>
              <a:buSzPts val="4600"/>
              <a:buFont typeface="Calibri"/>
              <a:buNone/>
            </a:pPr>
            <a:r>
              <a:rPr b="1" i="0" lang="en-US" sz="4600" u="none" cap="none" strike="noStrike">
                <a:solidFill>
                  <a:srgbClr val="2A7FB8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2"/>
          <p:cNvSpPr/>
          <p:nvPr/>
        </p:nvSpPr>
        <p:spPr>
          <a:xfrm>
            <a:off x="4480560" y="2011680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C66"/>
              </a:buClr>
              <a:buSzPts val="1100"/>
              <a:buFont typeface="Calibri"/>
              <a:buNone/>
            </a:pPr>
            <a:r>
              <a:rPr b="0" i="1" lang="en-US" sz="1600" u="none" cap="none" strike="noStrike">
                <a:solidFill>
                  <a:srgbClr val="4A5C66"/>
                </a:solidFill>
                <a:latin typeface="Calibri"/>
                <a:ea typeface="Calibri"/>
                <a:cs typeface="Calibri"/>
                <a:sym typeface="Calibri"/>
              </a:rPr>
              <a:t>alignment,  any compressor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2"/>
          <p:cNvSpPr/>
          <p:nvPr/>
        </p:nvSpPr>
        <p:spPr>
          <a:xfrm>
            <a:off x="8183880" y="1234440"/>
            <a:ext cx="3520440" cy="1188720"/>
          </a:xfrm>
          <a:prstGeom prst="roundRect">
            <a:avLst>
              <a:gd fmla="val 7692" name="adj"/>
            </a:avLst>
          </a:prstGeom>
          <a:solidFill>
            <a:srgbClr val="FFFDF5"/>
          </a:solidFill>
          <a:ln cap="flat" cmpd="sng" w="19050">
            <a:solidFill>
              <a:srgbClr val="CB62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2"/>
          <p:cNvSpPr/>
          <p:nvPr/>
        </p:nvSpPr>
        <p:spPr>
          <a:xfrm>
            <a:off x="8321040" y="1280160"/>
            <a:ext cx="32461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6218"/>
              </a:buClr>
              <a:buSzPts val="4600"/>
              <a:buFont typeface="Calibri"/>
              <a:buNone/>
            </a:pPr>
            <a:r>
              <a:rPr i="1" lang="en-US" sz="1600">
                <a:solidFill>
                  <a:srgbClr val="4A5C66"/>
                </a:solidFill>
                <a:latin typeface="Calibri"/>
                <a:ea typeface="Calibri"/>
                <a:cs typeface="Calibri"/>
                <a:sym typeface="Calibri"/>
              </a:rPr>
              <a:t>Preserve</a:t>
            </a:r>
            <a:r>
              <a:rPr b="1" lang="en-US" sz="4600">
                <a:solidFill>
                  <a:srgbClr val="CB6218"/>
                </a:solidFill>
                <a:latin typeface="Calibri"/>
                <a:ea typeface="Calibri"/>
                <a:cs typeface="Calibri"/>
                <a:sym typeface="Calibri"/>
              </a:rPr>
              <a:t> Acuracy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2"/>
          <p:cNvSpPr/>
          <p:nvPr/>
        </p:nvSpPr>
        <p:spPr>
          <a:xfrm>
            <a:off x="8321040" y="2011680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C66"/>
              </a:buClr>
              <a:buSzPts val="1100"/>
              <a:buFont typeface="Calibri"/>
              <a:buNone/>
            </a:pPr>
            <a:r>
              <a:rPr b="0" i="1" lang="en-US" sz="1600" u="none" cap="none" strike="noStrike">
                <a:solidFill>
                  <a:srgbClr val="4A5C66"/>
                </a:solidFill>
                <a:latin typeface="Calibri"/>
                <a:ea typeface="Calibri"/>
                <a:cs typeface="Calibri"/>
                <a:sym typeface="Calibri"/>
              </a:rPr>
              <a:t>PPL</a:t>
            </a:r>
            <a:r>
              <a:rPr i="1" lang="en-US" sz="1600">
                <a:solidFill>
                  <a:srgbClr val="4A5C66"/>
                </a:solidFill>
                <a:latin typeface="Calibri"/>
                <a:ea typeface="Calibri"/>
                <a:cs typeface="Calibri"/>
                <a:sym typeface="Calibri"/>
              </a:rPr>
              <a:t> &amp; Zero-shot metric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2"/>
          <p:cNvSpPr/>
          <p:nvPr/>
        </p:nvSpPr>
        <p:spPr>
          <a:xfrm>
            <a:off x="502920" y="256032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5"/>
              </a:buClr>
              <a:buSzPts val="1200"/>
              <a:buFont typeface="Calibri"/>
              <a:buNone/>
            </a:pPr>
            <a:r>
              <a:rPr b="0" i="1" lang="en-US" sz="1700" u="none" cap="none" strike="noStrike">
                <a:solidFill>
                  <a:srgbClr val="6B7A85"/>
                </a:solidFill>
                <a:latin typeface="Calibri"/>
                <a:ea typeface="Calibri"/>
                <a:cs typeface="Calibri"/>
                <a:sym typeface="Calibri"/>
              </a:rPr>
              <a:t>Llama-3-8B,  ρ = 15%,  A100,  B=1  S=1024, pre</a:t>
            </a:r>
            <a:r>
              <a:rPr i="1" lang="en-US" sz="1700">
                <a:solidFill>
                  <a:srgbClr val="6B7A85"/>
                </a:solidFill>
                <a:latin typeface="Calibri"/>
                <a:ea typeface="Calibri"/>
                <a:cs typeface="Calibri"/>
                <a:sym typeface="Calibri"/>
              </a:rPr>
              <a:t>fill 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2"/>
          <p:cNvSpPr/>
          <p:nvPr/>
        </p:nvSpPr>
        <p:spPr>
          <a:xfrm>
            <a:off x="502920" y="2880360"/>
            <a:ext cx="6858000" cy="411480"/>
          </a:xfrm>
          <a:prstGeom prst="rect">
            <a:avLst/>
          </a:prstGeom>
          <a:solidFill>
            <a:srgbClr val="0A2E3B"/>
          </a:solidFill>
          <a:ln cap="flat" cmpd="sng" w="12700">
            <a:solidFill>
              <a:srgbClr val="0A2E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2"/>
          <p:cNvSpPr/>
          <p:nvPr/>
        </p:nvSpPr>
        <p:spPr>
          <a:xfrm>
            <a:off x="685800" y="2880360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DF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DF5"/>
                </a:solidFill>
                <a:latin typeface="Calibri"/>
                <a:ea typeface="Calibri"/>
                <a:cs typeface="Calibri"/>
                <a:sym typeface="Calibri"/>
              </a:rPr>
              <a:t>Method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2"/>
          <p:cNvSpPr/>
          <p:nvPr/>
        </p:nvSpPr>
        <p:spPr>
          <a:xfrm>
            <a:off x="2834640" y="2880360"/>
            <a:ext cx="731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DF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DF5"/>
                </a:solidFill>
                <a:latin typeface="Calibri"/>
                <a:ea typeface="Calibri"/>
                <a:cs typeface="Calibri"/>
                <a:sym typeface="Calibri"/>
              </a:rPr>
              <a:t>Align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2"/>
          <p:cNvSpPr/>
          <p:nvPr/>
        </p:nvSpPr>
        <p:spPr>
          <a:xfrm>
            <a:off x="3749040" y="2880360"/>
            <a:ext cx="640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DF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DF5"/>
                </a:solidFill>
                <a:latin typeface="Calibri"/>
                <a:ea typeface="Calibri"/>
                <a:cs typeface="Calibri"/>
                <a:sym typeface="Calibri"/>
              </a:rPr>
              <a:t>PPL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2"/>
          <p:cNvSpPr/>
          <p:nvPr/>
        </p:nvSpPr>
        <p:spPr>
          <a:xfrm>
            <a:off x="4526280" y="2880360"/>
            <a:ext cx="1097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DF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DF5"/>
                </a:solidFill>
                <a:latin typeface="Calibri"/>
                <a:ea typeface="Calibri"/>
                <a:cs typeface="Calibri"/>
                <a:sym typeface="Calibri"/>
              </a:rPr>
              <a:t>Lat (ms)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2"/>
          <p:cNvSpPr/>
          <p:nvPr/>
        </p:nvSpPr>
        <p:spPr>
          <a:xfrm>
            <a:off x="5760720" y="2880360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DF5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DF5"/>
                </a:solidFill>
                <a:latin typeface="Calibri"/>
                <a:ea typeface="Calibri"/>
                <a:cs typeface="Calibri"/>
                <a:sym typeface="Calibri"/>
              </a:rPr>
              <a:t>Speedup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2"/>
          <p:cNvSpPr/>
          <p:nvPr/>
        </p:nvSpPr>
        <p:spPr>
          <a:xfrm>
            <a:off x="502920" y="3291840"/>
            <a:ext cx="6858000" cy="411480"/>
          </a:xfrm>
          <a:prstGeom prst="rect">
            <a:avLst/>
          </a:prstGeom>
          <a:solidFill>
            <a:srgbClr val="F3EDD9"/>
          </a:solidFill>
          <a:ln cap="flat" cmpd="sng" w="12700">
            <a:solidFill>
              <a:srgbClr val="E6DC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2"/>
          <p:cNvSpPr/>
          <p:nvPr/>
        </p:nvSpPr>
        <p:spPr>
          <a:xfrm>
            <a:off x="685800" y="3291840"/>
            <a:ext cx="2148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E3B"/>
              </a:buClr>
              <a:buSzPts val="1200"/>
              <a:buFont typeface="Calibri"/>
              <a:buNone/>
            </a:pPr>
            <a:r>
              <a:rPr b="1" i="0" lang="en-US" sz="1600" u="none" cap="none" strike="noStrike">
                <a:solidFill>
                  <a:srgbClr val="0A2E3B"/>
                </a:solidFill>
                <a:latin typeface="Calibri"/>
                <a:ea typeface="Calibri"/>
                <a:cs typeface="Calibri"/>
                <a:sym typeface="Calibri"/>
              </a:rPr>
              <a:t>Baseline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2"/>
          <p:cNvSpPr/>
          <p:nvPr/>
        </p:nvSpPr>
        <p:spPr>
          <a:xfrm>
            <a:off x="2834640" y="3291840"/>
            <a:ext cx="914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B1B"/>
              </a:buClr>
              <a:buSzPts val="1200"/>
              <a:buFont typeface="Courier New"/>
              <a:buNone/>
            </a:pPr>
            <a:r>
              <a:rPr b="1" i="0" lang="en-US" sz="1600" u="none" cap="none" strike="noStrike">
                <a:solidFill>
                  <a:srgbClr val="7A9B1B"/>
                </a:solidFill>
                <a:latin typeface="Courier New"/>
                <a:ea typeface="Courier New"/>
                <a:cs typeface="Courier New"/>
                <a:sym typeface="Courier New"/>
              </a:rPr>
              <a:t>100%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2"/>
          <p:cNvSpPr/>
          <p:nvPr/>
        </p:nvSpPr>
        <p:spPr>
          <a:xfrm>
            <a:off x="3749040" y="3291840"/>
            <a:ext cx="777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C66"/>
              </a:buClr>
              <a:buSzPts val="1200"/>
              <a:buFont typeface="Courier New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6.14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2"/>
          <p:cNvSpPr/>
          <p:nvPr/>
        </p:nvSpPr>
        <p:spPr>
          <a:xfrm>
            <a:off x="4526280" y="3291840"/>
            <a:ext cx="1234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E3B"/>
              </a:buClr>
              <a:buSzPts val="1200"/>
              <a:buFont typeface="Courier New"/>
              <a:buNone/>
            </a:pPr>
            <a:r>
              <a:rPr b="1" i="0" lang="en-US" sz="1600" u="none" cap="none" strike="noStrike">
                <a:solidFill>
                  <a:srgbClr val="0A2E3B"/>
                </a:solidFill>
                <a:latin typeface="Courier New"/>
                <a:ea typeface="Courier New"/>
                <a:cs typeface="Courier New"/>
                <a:sym typeface="Courier New"/>
              </a:rPr>
              <a:t>99.6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2"/>
          <p:cNvSpPr/>
          <p:nvPr/>
        </p:nvSpPr>
        <p:spPr>
          <a:xfrm>
            <a:off x="5760720" y="3291840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2"/>
          <p:cNvSpPr/>
          <p:nvPr/>
        </p:nvSpPr>
        <p:spPr>
          <a:xfrm>
            <a:off x="502920" y="3703320"/>
            <a:ext cx="6858000" cy="411480"/>
          </a:xfrm>
          <a:prstGeom prst="rect">
            <a:avLst/>
          </a:prstGeom>
          <a:solidFill>
            <a:srgbClr val="FCFAF0"/>
          </a:solidFill>
          <a:ln cap="flat" cmpd="sng" w="12700">
            <a:solidFill>
              <a:srgbClr val="E6DC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2"/>
          <p:cNvSpPr/>
          <p:nvPr/>
        </p:nvSpPr>
        <p:spPr>
          <a:xfrm>
            <a:off x="685800" y="3703320"/>
            <a:ext cx="2148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E3B"/>
              </a:buClr>
              <a:buSzPts val="1200"/>
              <a:buFont typeface="Calibri"/>
              <a:buNone/>
            </a:pPr>
            <a:r>
              <a:rPr b="0" i="0" lang="en-US" sz="1600" u="none" cap="none" strike="noStrike">
                <a:solidFill>
                  <a:srgbClr val="0A2E3B"/>
                </a:solidFill>
                <a:latin typeface="Calibri"/>
                <a:ea typeface="Calibri"/>
                <a:cs typeface="Calibri"/>
                <a:sym typeface="Calibri"/>
              </a:rPr>
              <a:t>ASVD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2"/>
          <p:cNvSpPr/>
          <p:nvPr/>
        </p:nvSpPr>
        <p:spPr>
          <a:xfrm>
            <a:off x="2834640" y="3703320"/>
            <a:ext cx="914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23B2E"/>
              </a:buClr>
              <a:buSzPts val="1200"/>
              <a:buFont typeface="Courier New"/>
              <a:buNone/>
            </a:pPr>
            <a:r>
              <a:rPr b="1" i="0" lang="en-US" sz="1600" u="none" cap="none" strike="noStrike">
                <a:solidFill>
                  <a:srgbClr val="D23B2E"/>
                </a:solidFill>
                <a:latin typeface="Courier New"/>
                <a:ea typeface="Courier New"/>
                <a:cs typeface="Courier New"/>
                <a:sym typeface="Courier New"/>
              </a:rPr>
              <a:t>5%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2"/>
          <p:cNvSpPr/>
          <p:nvPr/>
        </p:nvSpPr>
        <p:spPr>
          <a:xfrm>
            <a:off x="3749040" y="3703320"/>
            <a:ext cx="777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C66"/>
              </a:buClr>
              <a:buSzPts val="1200"/>
              <a:buFont typeface="Courier New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34.7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2"/>
          <p:cNvSpPr/>
          <p:nvPr/>
        </p:nvSpPr>
        <p:spPr>
          <a:xfrm>
            <a:off x="4526280" y="3703320"/>
            <a:ext cx="1234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E3B"/>
              </a:buClr>
              <a:buSzPts val="1200"/>
              <a:buFont typeface="Courier New"/>
              <a:buNone/>
            </a:pPr>
            <a:r>
              <a:rPr b="1" i="0" lang="en-US" sz="1600" u="none" cap="none" strike="noStrike">
                <a:solidFill>
                  <a:srgbClr val="0A2E3B"/>
                </a:solidFill>
                <a:latin typeface="Courier New"/>
                <a:ea typeface="Courier New"/>
                <a:cs typeface="Courier New"/>
                <a:sym typeface="Courier New"/>
              </a:rPr>
              <a:t>100.5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2"/>
          <p:cNvSpPr/>
          <p:nvPr/>
        </p:nvSpPr>
        <p:spPr>
          <a:xfrm>
            <a:off x="5760720" y="3703320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23B2E"/>
              </a:buClr>
              <a:buSzPts val="1300"/>
              <a:buFont typeface="Calibri"/>
              <a:buNone/>
            </a:pPr>
            <a:r>
              <a:rPr b="1" lang="en-US" sz="1700">
                <a:solidFill>
                  <a:srgbClr val="D23B2E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i="0" lang="en-US" sz="1700" u="none" cap="none" strike="noStrike">
                <a:solidFill>
                  <a:srgbClr val="D23B2E"/>
                </a:solidFill>
                <a:latin typeface="Calibri"/>
                <a:ea typeface="Calibri"/>
                <a:cs typeface="Calibri"/>
                <a:sym typeface="Calibri"/>
              </a:rPr>
              <a:t>1%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2"/>
          <p:cNvSpPr/>
          <p:nvPr/>
        </p:nvSpPr>
        <p:spPr>
          <a:xfrm>
            <a:off x="502920" y="4114800"/>
            <a:ext cx="6858000" cy="411480"/>
          </a:xfrm>
          <a:prstGeom prst="rect">
            <a:avLst/>
          </a:prstGeom>
          <a:solidFill>
            <a:srgbClr val="ECF1D5"/>
          </a:solidFill>
          <a:ln cap="flat" cmpd="sng" w="12700">
            <a:solidFill>
              <a:srgbClr val="E6DC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2"/>
          <p:cNvSpPr/>
          <p:nvPr/>
        </p:nvSpPr>
        <p:spPr>
          <a:xfrm>
            <a:off x="685800" y="4114800"/>
            <a:ext cx="2148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B1B"/>
              </a:buClr>
              <a:buSzPts val="1200"/>
              <a:buFont typeface="Calibri"/>
              <a:buNone/>
            </a:pPr>
            <a:r>
              <a:rPr b="1" i="0" lang="en-US" sz="1600" u="none" cap="none" strike="noStrike">
                <a:solidFill>
                  <a:srgbClr val="7A9B1B"/>
                </a:solidFill>
                <a:latin typeface="Calibri"/>
                <a:ea typeface="Calibri"/>
                <a:cs typeface="Calibri"/>
                <a:sym typeface="Calibri"/>
              </a:rPr>
              <a:t>ASVD (GAC)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2"/>
          <p:cNvSpPr/>
          <p:nvPr/>
        </p:nvSpPr>
        <p:spPr>
          <a:xfrm>
            <a:off x="2834640" y="4114800"/>
            <a:ext cx="914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B1B"/>
              </a:buClr>
              <a:buSzPts val="1200"/>
              <a:buFont typeface="Courier New"/>
              <a:buNone/>
            </a:pPr>
            <a:r>
              <a:rPr b="1" i="0" lang="en-US" sz="1600" u="none" cap="none" strike="noStrike">
                <a:solidFill>
                  <a:srgbClr val="7A9B1B"/>
                </a:solidFill>
                <a:latin typeface="Courier New"/>
                <a:ea typeface="Courier New"/>
                <a:cs typeface="Courier New"/>
                <a:sym typeface="Courier New"/>
              </a:rPr>
              <a:t>100%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2"/>
          <p:cNvSpPr/>
          <p:nvPr/>
        </p:nvSpPr>
        <p:spPr>
          <a:xfrm>
            <a:off x="3749040" y="4114800"/>
            <a:ext cx="777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C66"/>
              </a:buClr>
              <a:buSzPts val="1200"/>
              <a:buFont typeface="Courier New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31.3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2"/>
          <p:cNvSpPr/>
          <p:nvPr/>
        </p:nvSpPr>
        <p:spPr>
          <a:xfrm>
            <a:off x="4526280" y="4114800"/>
            <a:ext cx="1234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E3B"/>
              </a:buClr>
              <a:buSzPts val="1200"/>
              <a:buFont typeface="Courier New"/>
              <a:buNone/>
            </a:pPr>
            <a:r>
              <a:rPr b="1" i="0" lang="en-US" sz="1600" u="none" cap="none" strike="noStrike">
                <a:solidFill>
                  <a:srgbClr val="0A2E3B"/>
                </a:solidFill>
                <a:latin typeface="Courier New"/>
                <a:ea typeface="Courier New"/>
                <a:cs typeface="Courier New"/>
                <a:sym typeface="Courier New"/>
              </a:rPr>
              <a:t>67.1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2"/>
          <p:cNvSpPr/>
          <p:nvPr/>
        </p:nvSpPr>
        <p:spPr>
          <a:xfrm>
            <a:off x="5760720" y="4114800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B1B"/>
              </a:buClr>
              <a:buSzPts val="1300"/>
              <a:buFont typeface="Calibri"/>
              <a:buNone/>
            </a:pPr>
            <a:r>
              <a:rPr b="1" lang="en-US" sz="1700">
                <a:solidFill>
                  <a:srgbClr val="7A9B1B"/>
                </a:solidFill>
                <a:latin typeface="Calibri"/>
                <a:ea typeface="Calibri"/>
                <a:cs typeface="Calibri"/>
                <a:sym typeface="Calibri"/>
              </a:rPr>
              <a:t>+49</a:t>
            </a:r>
            <a:r>
              <a:rPr b="1" i="0" lang="en-US" sz="1700" u="none" cap="none" strike="noStrike">
                <a:solidFill>
                  <a:srgbClr val="7A9B1B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2"/>
          <p:cNvSpPr/>
          <p:nvPr/>
        </p:nvSpPr>
        <p:spPr>
          <a:xfrm>
            <a:off x="502920" y="4526280"/>
            <a:ext cx="6858000" cy="411480"/>
          </a:xfrm>
          <a:prstGeom prst="rect">
            <a:avLst/>
          </a:prstGeom>
          <a:solidFill>
            <a:srgbClr val="FCFAF0"/>
          </a:solidFill>
          <a:ln cap="flat" cmpd="sng" w="12700">
            <a:solidFill>
              <a:srgbClr val="E6DC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2"/>
          <p:cNvSpPr/>
          <p:nvPr/>
        </p:nvSpPr>
        <p:spPr>
          <a:xfrm>
            <a:off x="685800" y="4526280"/>
            <a:ext cx="2148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E3B"/>
              </a:buClr>
              <a:buSzPts val="1200"/>
              <a:buFont typeface="Calibri"/>
              <a:buNone/>
            </a:pPr>
            <a:r>
              <a:rPr b="0" i="0" lang="en-US" sz="1600" u="none" cap="none" strike="noStrike">
                <a:solidFill>
                  <a:srgbClr val="0A2E3B"/>
                </a:solidFill>
                <a:latin typeface="Calibri"/>
                <a:ea typeface="Calibri"/>
                <a:cs typeface="Calibri"/>
                <a:sym typeface="Calibri"/>
              </a:rPr>
              <a:t>LLM-Pruner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2"/>
          <p:cNvSpPr/>
          <p:nvPr/>
        </p:nvSpPr>
        <p:spPr>
          <a:xfrm>
            <a:off x="2834640" y="4526280"/>
            <a:ext cx="914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6218"/>
              </a:buClr>
              <a:buSzPts val="1200"/>
              <a:buFont typeface="Courier New"/>
              <a:buNone/>
            </a:pPr>
            <a:r>
              <a:rPr b="1" i="0" lang="en-US" sz="1600" u="none" cap="none" strike="noStrike">
                <a:solidFill>
                  <a:srgbClr val="CB6218"/>
                </a:solidFill>
                <a:latin typeface="Courier New"/>
                <a:ea typeface="Courier New"/>
                <a:cs typeface="Courier New"/>
                <a:sym typeface="Courier New"/>
              </a:rPr>
              <a:t>83%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2"/>
          <p:cNvSpPr/>
          <p:nvPr/>
        </p:nvSpPr>
        <p:spPr>
          <a:xfrm>
            <a:off x="3749040" y="4526280"/>
            <a:ext cx="777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C66"/>
              </a:buClr>
              <a:buSzPts val="1200"/>
              <a:buFont typeface="Courier New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9.88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2"/>
          <p:cNvSpPr/>
          <p:nvPr/>
        </p:nvSpPr>
        <p:spPr>
          <a:xfrm>
            <a:off x="4526280" y="4526280"/>
            <a:ext cx="1234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E3B"/>
              </a:buClr>
              <a:buSzPts val="1200"/>
              <a:buFont typeface="Courier New"/>
              <a:buNone/>
            </a:pPr>
            <a:r>
              <a:rPr b="1" i="0" lang="en-US" sz="1600" u="none" cap="none" strike="noStrike">
                <a:solidFill>
                  <a:srgbClr val="0A2E3B"/>
                </a:solidFill>
                <a:latin typeface="Courier New"/>
                <a:ea typeface="Courier New"/>
                <a:cs typeface="Courier New"/>
                <a:sym typeface="Courier New"/>
              </a:rPr>
              <a:t>137.7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2"/>
          <p:cNvSpPr/>
          <p:nvPr/>
        </p:nvSpPr>
        <p:spPr>
          <a:xfrm>
            <a:off x="5760720" y="4526280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23B2E"/>
              </a:buClr>
              <a:buSzPts val="1300"/>
              <a:buFont typeface="Calibri"/>
              <a:buNone/>
            </a:pPr>
            <a:r>
              <a:rPr b="1" lang="en-US" sz="1700">
                <a:solidFill>
                  <a:srgbClr val="D23B2E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i="0" lang="en-US" sz="1700" u="none" cap="none" strike="noStrike">
                <a:solidFill>
                  <a:srgbClr val="D23B2E"/>
                </a:solidFill>
                <a:latin typeface="Calibri"/>
                <a:ea typeface="Calibri"/>
                <a:cs typeface="Calibri"/>
                <a:sym typeface="Calibri"/>
              </a:rPr>
              <a:t>38%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2"/>
          <p:cNvSpPr/>
          <p:nvPr/>
        </p:nvSpPr>
        <p:spPr>
          <a:xfrm>
            <a:off x="502920" y="4937760"/>
            <a:ext cx="6858000" cy="411480"/>
          </a:xfrm>
          <a:prstGeom prst="rect">
            <a:avLst/>
          </a:prstGeom>
          <a:solidFill>
            <a:srgbClr val="ECF1D5"/>
          </a:solidFill>
          <a:ln cap="flat" cmpd="sng" w="12700">
            <a:solidFill>
              <a:srgbClr val="E6DC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2"/>
          <p:cNvSpPr/>
          <p:nvPr/>
        </p:nvSpPr>
        <p:spPr>
          <a:xfrm>
            <a:off x="685800" y="4937760"/>
            <a:ext cx="2148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B1B"/>
              </a:buClr>
              <a:buSzPts val="1200"/>
              <a:buFont typeface="Calibri"/>
              <a:buNone/>
            </a:pPr>
            <a:r>
              <a:rPr b="1" i="0" lang="en-US" sz="1600" u="none" cap="none" strike="noStrike">
                <a:solidFill>
                  <a:srgbClr val="7A9B1B"/>
                </a:solidFill>
                <a:latin typeface="Calibri"/>
                <a:ea typeface="Calibri"/>
                <a:cs typeface="Calibri"/>
                <a:sym typeface="Calibri"/>
              </a:rPr>
              <a:t>LLM-Pruner (GAC)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2"/>
          <p:cNvSpPr/>
          <p:nvPr/>
        </p:nvSpPr>
        <p:spPr>
          <a:xfrm>
            <a:off x="2834640" y="4937760"/>
            <a:ext cx="914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B1B"/>
              </a:buClr>
              <a:buSzPts val="1200"/>
              <a:buFont typeface="Courier New"/>
              <a:buNone/>
            </a:pPr>
            <a:r>
              <a:rPr b="1" i="0" lang="en-US" sz="1600" u="none" cap="none" strike="noStrike">
                <a:solidFill>
                  <a:srgbClr val="7A9B1B"/>
                </a:solidFill>
                <a:latin typeface="Courier New"/>
                <a:ea typeface="Courier New"/>
                <a:cs typeface="Courier New"/>
                <a:sym typeface="Courier New"/>
              </a:rPr>
              <a:t>100%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2"/>
          <p:cNvSpPr/>
          <p:nvPr/>
        </p:nvSpPr>
        <p:spPr>
          <a:xfrm>
            <a:off x="3749040" y="4937760"/>
            <a:ext cx="777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C66"/>
              </a:buClr>
              <a:buSzPts val="1200"/>
              <a:buFont typeface="Courier New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9.87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2"/>
          <p:cNvSpPr/>
          <p:nvPr/>
        </p:nvSpPr>
        <p:spPr>
          <a:xfrm>
            <a:off x="4526280" y="4937760"/>
            <a:ext cx="1234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E3B"/>
              </a:buClr>
              <a:buSzPts val="1200"/>
              <a:buFont typeface="Courier New"/>
              <a:buNone/>
            </a:pPr>
            <a:r>
              <a:rPr b="1" i="0" lang="en-US" sz="1600" u="none" cap="none" strike="noStrike">
                <a:solidFill>
                  <a:srgbClr val="0A2E3B"/>
                </a:solidFill>
                <a:latin typeface="Courier New"/>
                <a:ea typeface="Courier New"/>
                <a:cs typeface="Courier New"/>
                <a:sym typeface="Courier New"/>
              </a:rPr>
              <a:t>88.0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2"/>
          <p:cNvSpPr/>
          <p:nvPr/>
        </p:nvSpPr>
        <p:spPr>
          <a:xfrm>
            <a:off x="5760720" y="4937760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B1B"/>
              </a:buClr>
              <a:buSzPts val="1300"/>
              <a:buFont typeface="Calibri"/>
              <a:buNone/>
            </a:pPr>
            <a:r>
              <a:rPr b="1" lang="en-US" sz="1700">
                <a:solidFill>
                  <a:srgbClr val="7A9B1B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b="1" i="0" lang="en-US" sz="1700" u="none" cap="none" strike="noStrike">
                <a:solidFill>
                  <a:srgbClr val="7A9B1B"/>
                </a:solidFill>
                <a:latin typeface="Calibri"/>
                <a:ea typeface="Calibri"/>
                <a:cs typeface="Calibri"/>
                <a:sym typeface="Calibri"/>
              </a:rPr>
              <a:t>12%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igs/fig_prefill_scaling-1.png" id="303" name="Google Shape;30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95250" y="2880350"/>
            <a:ext cx="4383575" cy="24689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12"/>
          <p:cNvSpPr txBox="1"/>
          <p:nvPr>
            <p:ph idx="4294967295" type="sldNum"/>
          </p:nvPr>
        </p:nvSpPr>
        <p:spPr>
          <a:xfrm>
            <a:off x="11750040" y="6565392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A8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B7A8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3"/>
          <p:cNvSpPr/>
          <p:nvPr/>
        </p:nvSpPr>
        <p:spPr>
          <a:xfrm>
            <a:off x="502925" y="1759146"/>
            <a:ext cx="11247000" cy="618300"/>
          </a:xfrm>
          <a:prstGeom prst="roundRect">
            <a:avLst>
              <a:gd fmla="val 8696" name="adj"/>
            </a:avLst>
          </a:prstGeom>
          <a:solidFill>
            <a:srgbClr val="ECF1D5"/>
          </a:solidFill>
          <a:ln cap="flat" cmpd="sng" w="19050">
            <a:solidFill>
              <a:srgbClr val="7A9B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3"/>
          <p:cNvSpPr/>
          <p:nvPr/>
        </p:nvSpPr>
        <p:spPr>
          <a:xfrm>
            <a:off x="614275" y="1734558"/>
            <a:ext cx="10835700" cy="61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23B2E"/>
              </a:buClr>
              <a:buSzPts val="2200"/>
              <a:buFont typeface="Calibri"/>
              <a:buNone/>
            </a:pPr>
            <a:r>
              <a:rPr lang="en-US" sz="2200">
                <a:solidFill>
                  <a:srgbClr val="0A2E3B"/>
                </a:solidFill>
                <a:latin typeface="Calibri"/>
                <a:ea typeface="Calibri"/>
                <a:cs typeface="Calibri"/>
                <a:sym typeface="Calibri"/>
              </a:rPr>
              <a:t>Summary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3"/>
          <p:cNvSpPr/>
          <p:nvPr/>
        </p:nvSpPr>
        <p:spPr>
          <a:xfrm>
            <a:off x="502920" y="2651760"/>
            <a:ext cx="3520440" cy="2057400"/>
          </a:xfrm>
          <a:prstGeom prst="roundRect">
            <a:avLst>
              <a:gd fmla="val 4444" name="adj"/>
            </a:avLst>
          </a:prstGeom>
          <a:solidFill>
            <a:srgbClr val="FFFDF5"/>
          </a:solidFill>
          <a:ln cap="flat" cmpd="sng" w="19050">
            <a:solidFill>
              <a:srgbClr val="2A7F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3"/>
          <p:cNvSpPr/>
          <p:nvPr/>
        </p:nvSpPr>
        <p:spPr>
          <a:xfrm>
            <a:off x="731520" y="2834640"/>
            <a:ext cx="502920" cy="502920"/>
          </a:xfrm>
          <a:prstGeom prst="ellipse">
            <a:avLst/>
          </a:prstGeom>
          <a:solidFill>
            <a:srgbClr val="2A7FB8"/>
          </a:solidFill>
          <a:ln cap="flat" cmpd="sng" w="12700">
            <a:solidFill>
              <a:srgbClr val="2A7F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3"/>
          <p:cNvSpPr/>
          <p:nvPr/>
        </p:nvSpPr>
        <p:spPr>
          <a:xfrm>
            <a:off x="731520" y="28346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DF5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DF5"/>
                </a:solidFill>
                <a:latin typeface="Calibri"/>
                <a:ea typeface="Calibri"/>
                <a:cs typeface="Calibri"/>
                <a:sym typeface="Calibri"/>
              </a:rPr>
              <a:t>◆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3"/>
          <p:cNvSpPr/>
          <p:nvPr/>
        </p:nvSpPr>
        <p:spPr>
          <a:xfrm>
            <a:off x="1371600" y="2852928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7FB8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A7FB8"/>
                </a:solidFill>
                <a:latin typeface="Calibri"/>
                <a:ea typeface="Calibri"/>
                <a:cs typeface="Calibri"/>
                <a:sym typeface="Calibri"/>
              </a:rPr>
              <a:t>Problem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3"/>
          <p:cNvSpPr/>
          <p:nvPr/>
        </p:nvSpPr>
        <p:spPr>
          <a:xfrm>
            <a:off x="502875" y="3337538"/>
            <a:ext cx="35205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D23B2E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2A7FB8"/>
                </a:solidFill>
                <a:latin typeface="Calibri"/>
                <a:ea typeface="Calibri"/>
                <a:cs typeface="Calibri"/>
                <a:sym typeface="Calibri"/>
              </a:rPr>
              <a:t>Dimensional misalignment </a:t>
            </a:r>
            <a:br>
              <a:rPr b="1" lang="en-US" sz="2200">
                <a:solidFill>
                  <a:srgbClr val="D23B2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200">
                <a:solidFill>
                  <a:srgbClr val="0A2E3B"/>
                </a:solidFill>
                <a:latin typeface="Calibri"/>
                <a:ea typeface="Calibri"/>
                <a:cs typeface="Calibri"/>
                <a:sym typeface="Calibri"/>
              </a:rPr>
              <a:t>in post-training compression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3"/>
          <p:cNvSpPr/>
          <p:nvPr/>
        </p:nvSpPr>
        <p:spPr>
          <a:xfrm>
            <a:off x="4343400" y="2651760"/>
            <a:ext cx="3520440" cy="2057400"/>
          </a:xfrm>
          <a:prstGeom prst="roundRect">
            <a:avLst>
              <a:gd fmla="val 4444" name="adj"/>
            </a:avLst>
          </a:prstGeom>
          <a:solidFill>
            <a:srgbClr val="FFFDF5"/>
          </a:solidFill>
          <a:ln cap="flat" cmpd="sng" w="19050">
            <a:solidFill>
              <a:srgbClr val="CB62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3"/>
          <p:cNvSpPr/>
          <p:nvPr/>
        </p:nvSpPr>
        <p:spPr>
          <a:xfrm>
            <a:off x="4572000" y="2834640"/>
            <a:ext cx="502920" cy="502920"/>
          </a:xfrm>
          <a:prstGeom prst="ellipse">
            <a:avLst/>
          </a:prstGeom>
          <a:solidFill>
            <a:srgbClr val="CB6218"/>
          </a:solidFill>
          <a:ln cap="flat" cmpd="sng" w="12700">
            <a:solidFill>
              <a:srgbClr val="CB62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3"/>
          <p:cNvSpPr/>
          <p:nvPr/>
        </p:nvSpPr>
        <p:spPr>
          <a:xfrm>
            <a:off x="4572000" y="28346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DF5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DF5"/>
                </a:solidFill>
                <a:latin typeface="Calibri"/>
                <a:ea typeface="Calibri"/>
                <a:cs typeface="Calibri"/>
                <a:sym typeface="Calibri"/>
              </a:rPr>
              <a:t>⚙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3"/>
          <p:cNvSpPr/>
          <p:nvPr/>
        </p:nvSpPr>
        <p:spPr>
          <a:xfrm>
            <a:off x="5212080" y="2852928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6218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CB6218"/>
                </a:solidFill>
                <a:latin typeface="Calibri"/>
                <a:ea typeface="Calibri"/>
                <a:cs typeface="Calibri"/>
                <a:sym typeface="Calibri"/>
              </a:rPr>
              <a:t>Analysis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3"/>
          <p:cNvSpPr/>
          <p:nvPr/>
        </p:nvSpPr>
        <p:spPr>
          <a:xfrm>
            <a:off x="4572000" y="3337550"/>
            <a:ext cx="31089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D23B2E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CB6218"/>
                </a:solidFill>
                <a:latin typeface="Calibri"/>
                <a:ea typeface="Calibri"/>
                <a:cs typeface="Calibri"/>
                <a:sym typeface="Calibri"/>
              </a:rPr>
              <a:t>Root Cause</a:t>
            </a:r>
            <a:r>
              <a:rPr lang="en-US" sz="2200">
                <a:solidFill>
                  <a:srgbClr val="0A2E3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-US" sz="2200">
                <a:solidFill>
                  <a:srgbClr val="0A2E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200">
                <a:solidFill>
                  <a:srgbClr val="0A2E3B"/>
                </a:solidFill>
                <a:latin typeface="Calibri"/>
                <a:ea typeface="Calibri"/>
                <a:cs typeface="Calibri"/>
                <a:sym typeface="Calibri"/>
              </a:rPr>
              <a:t>across 3-layers.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3"/>
          <p:cNvSpPr/>
          <p:nvPr/>
        </p:nvSpPr>
        <p:spPr>
          <a:xfrm>
            <a:off x="8183880" y="2651760"/>
            <a:ext cx="3520440" cy="2057400"/>
          </a:xfrm>
          <a:prstGeom prst="roundRect">
            <a:avLst>
              <a:gd fmla="val 4444" name="adj"/>
            </a:avLst>
          </a:prstGeom>
          <a:solidFill>
            <a:srgbClr val="FFFDF5"/>
          </a:solidFill>
          <a:ln cap="flat" cmpd="sng" w="19050">
            <a:solidFill>
              <a:srgbClr val="7A9B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3"/>
          <p:cNvSpPr/>
          <p:nvPr/>
        </p:nvSpPr>
        <p:spPr>
          <a:xfrm>
            <a:off x="8412480" y="2834640"/>
            <a:ext cx="502920" cy="502920"/>
          </a:xfrm>
          <a:prstGeom prst="ellipse">
            <a:avLst/>
          </a:prstGeom>
          <a:solidFill>
            <a:srgbClr val="7A9B1B"/>
          </a:solidFill>
          <a:ln cap="flat" cmpd="sng" w="12700">
            <a:solidFill>
              <a:srgbClr val="7A9B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3"/>
          <p:cNvSpPr/>
          <p:nvPr/>
        </p:nvSpPr>
        <p:spPr>
          <a:xfrm>
            <a:off x="8412480" y="28346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DF5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DF5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3"/>
          <p:cNvSpPr/>
          <p:nvPr/>
        </p:nvSpPr>
        <p:spPr>
          <a:xfrm>
            <a:off x="8412475" y="3337550"/>
            <a:ext cx="32919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C66"/>
              </a:buClr>
              <a:buSzPts val="1300"/>
              <a:buFont typeface="Calibri"/>
              <a:buNone/>
            </a:pPr>
            <a:r>
              <a:rPr b="1" lang="en-US" sz="22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GAC</a:t>
            </a:r>
            <a:br>
              <a:rPr lang="en-US" sz="2200">
                <a:solidFill>
                  <a:srgbClr val="0A2E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200">
                <a:solidFill>
                  <a:srgbClr val="0A2E3B"/>
                </a:solidFill>
                <a:latin typeface="Calibri"/>
                <a:ea typeface="Calibri"/>
                <a:cs typeface="Calibri"/>
                <a:sym typeface="Calibri"/>
              </a:rPr>
              <a:t>GPU-Aligned Compression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3"/>
          <p:cNvSpPr/>
          <p:nvPr/>
        </p:nvSpPr>
        <p:spPr>
          <a:xfrm>
            <a:off x="9052560" y="2852928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B1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7A9B1B"/>
                </a:solidFill>
                <a:latin typeface="Calibri"/>
                <a:ea typeface="Calibri"/>
                <a:cs typeface="Calibri"/>
                <a:sym typeface="Calibri"/>
              </a:rPr>
              <a:t>Solution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3"/>
          <p:cNvSpPr/>
          <p:nvPr/>
        </p:nvSpPr>
        <p:spPr>
          <a:xfrm>
            <a:off x="502925" y="5029150"/>
            <a:ext cx="11247000" cy="1234500"/>
          </a:xfrm>
          <a:prstGeom prst="roundRect">
            <a:avLst>
              <a:gd fmla="val 9231" name="adj"/>
            </a:avLst>
          </a:prstGeom>
          <a:solidFill>
            <a:srgbClr val="FFFDF5"/>
          </a:solidFill>
          <a:ln cap="flat" cmpd="sng" w="9525">
            <a:solidFill>
              <a:srgbClr val="E6DC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3"/>
          <p:cNvSpPr/>
          <p:nvPr/>
        </p:nvSpPr>
        <p:spPr>
          <a:xfrm>
            <a:off x="685800" y="5349240"/>
            <a:ext cx="640080" cy="640080"/>
          </a:xfrm>
          <a:prstGeom prst="ellipse">
            <a:avLst/>
          </a:prstGeom>
          <a:solidFill>
            <a:srgbClr val="2A7FB8"/>
          </a:solidFill>
          <a:ln cap="flat" cmpd="sng" w="12700">
            <a:solidFill>
              <a:srgbClr val="2A7F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3"/>
          <p:cNvSpPr/>
          <p:nvPr/>
        </p:nvSpPr>
        <p:spPr>
          <a:xfrm>
            <a:off x="685800" y="534924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DF5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FFFDF5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3"/>
          <p:cNvSpPr/>
          <p:nvPr/>
        </p:nvSpPr>
        <p:spPr>
          <a:xfrm>
            <a:off x="1554480" y="5074920"/>
            <a:ext cx="6400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E3B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A2E3B"/>
                </a:solidFill>
                <a:latin typeface="Calibri"/>
                <a:ea typeface="Calibri"/>
                <a:cs typeface="Calibri"/>
                <a:sym typeface="Calibri"/>
              </a:rPr>
              <a:t>Thank you  ·  Questions?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3"/>
          <p:cNvSpPr/>
          <p:nvPr/>
        </p:nvSpPr>
        <p:spPr>
          <a:xfrm>
            <a:off x="1554480" y="5650992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C66"/>
              </a:buClr>
              <a:buSzPts val="1300"/>
              <a:buFont typeface="Calibri"/>
              <a:buNone/>
            </a:pPr>
            <a:r>
              <a:rPr lang="en-US" sz="2200">
                <a:solidFill>
                  <a:srgbClr val="4A5C66"/>
                </a:solidFill>
                <a:latin typeface="Calibri"/>
                <a:ea typeface="Calibri"/>
                <a:cs typeface="Calibri"/>
                <a:sym typeface="Calibri"/>
              </a:rPr>
              <a:t>github.com/sands-lab/GAC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3"/>
          <p:cNvSpPr txBox="1"/>
          <p:nvPr>
            <p:ph idx="4294967295" type="sldNum"/>
          </p:nvPr>
        </p:nvSpPr>
        <p:spPr>
          <a:xfrm>
            <a:off x="11750040" y="6565392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A8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B7A8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3" name="Google Shape;333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95113" y="4469125"/>
            <a:ext cx="2400300" cy="240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07822" y="4523235"/>
            <a:ext cx="2529840" cy="252984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13"/>
          <p:cNvSpPr/>
          <p:nvPr/>
        </p:nvSpPr>
        <p:spPr>
          <a:xfrm>
            <a:off x="412501" y="201150"/>
            <a:ext cx="117795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E3B"/>
              </a:buClr>
              <a:buSzPts val="6600"/>
              <a:buFont typeface="Calibri"/>
              <a:buNone/>
            </a:pPr>
            <a:r>
              <a:rPr b="1" lang="en-US" sz="4700">
                <a:solidFill>
                  <a:srgbClr val="0A2E3B"/>
                </a:solidFill>
                <a:latin typeface="Calibri"/>
                <a:ea typeface="Calibri"/>
                <a:cs typeface="Calibri"/>
                <a:sym typeface="Calibri"/>
              </a:rPr>
              <a:t>Why</a:t>
            </a:r>
            <a:r>
              <a:rPr b="1" i="0" lang="en-US" sz="4700" u="none" cap="none" strike="noStrike">
                <a:solidFill>
                  <a:srgbClr val="0A2E3B"/>
                </a:solidFill>
                <a:latin typeface="Calibri"/>
                <a:ea typeface="Calibri"/>
                <a:cs typeface="Calibri"/>
                <a:sym typeface="Calibri"/>
              </a:rPr>
              <a:t> Smaller Is Slower?</a:t>
            </a:r>
            <a:br>
              <a:rPr b="1" i="0" lang="en-US" sz="4700" u="none" cap="none" strike="noStrike">
                <a:solidFill>
                  <a:srgbClr val="0A2E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i="1" lang="en-US" sz="2700">
                <a:solidFill>
                  <a:srgbClr val="4A5C66"/>
                </a:solidFill>
                <a:latin typeface="Calibri"/>
                <a:ea typeface="Calibri"/>
                <a:cs typeface="Calibri"/>
                <a:sym typeface="Calibri"/>
              </a:rPr>
              <a:t>Dimensional Misalignment in Compressed LLMs</a:t>
            </a:r>
            <a:endParaRPr b="1" sz="5100">
              <a:solidFill>
                <a:srgbClr val="0A2E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